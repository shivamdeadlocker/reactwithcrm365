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6" r:id="rId4"/>
    <p:sldId id="267" r:id="rId5"/>
    <p:sldId id="268" r:id="rId6"/>
    <p:sldId id="446" r:id="rId7"/>
    <p:sldId id="447" r:id="rId8"/>
    <p:sldId id="269" r:id="rId9"/>
    <p:sldId id="270" r:id="rId10"/>
    <p:sldId id="271" r:id="rId11"/>
    <p:sldId id="272" r:id="rId12"/>
    <p:sldId id="273" r:id="rId13"/>
    <p:sldId id="334" r:id="rId14"/>
    <p:sldId id="386" r:id="rId15"/>
    <p:sldId id="387" r:id="rId16"/>
    <p:sldId id="335" r:id="rId17"/>
    <p:sldId id="388" r:id="rId18"/>
    <p:sldId id="389" r:id="rId19"/>
    <p:sldId id="336" r:id="rId20"/>
    <p:sldId id="282" r:id="rId21"/>
    <p:sldId id="283" r:id="rId22"/>
    <p:sldId id="284" r:id="rId23"/>
    <p:sldId id="442" r:id="rId24"/>
    <p:sldId id="443" r:id="rId25"/>
    <p:sldId id="285" r:id="rId26"/>
    <p:sldId id="286" r:id="rId27"/>
    <p:sldId id="287" r:id="rId28"/>
    <p:sldId id="288" r:id="rId29"/>
    <p:sldId id="289" r:id="rId30"/>
    <p:sldId id="274" r:id="rId31"/>
    <p:sldId id="275" r:id="rId32"/>
    <p:sldId id="276" r:id="rId33"/>
    <p:sldId id="277" r:id="rId34"/>
    <p:sldId id="265" r:id="rId35"/>
    <p:sldId id="261" r:id="rId36"/>
    <p:sldId id="262" r:id="rId37"/>
    <p:sldId id="263" r:id="rId38"/>
    <p:sldId id="278" r:id="rId39"/>
    <p:sldId id="279" r:id="rId40"/>
    <p:sldId id="290" r:id="rId41"/>
    <p:sldId id="291" r:id="rId42"/>
    <p:sldId id="292" r:id="rId43"/>
    <p:sldId id="293" r:id="rId44"/>
    <p:sldId id="294" r:id="rId45"/>
    <p:sldId id="295" r:id="rId46"/>
    <p:sldId id="296" r:id="rId47"/>
    <p:sldId id="297" r:id="rId48"/>
    <p:sldId id="309" r:id="rId49"/>
    <p:sldId id="310" r:id="rId50"/>
    <p:sldId id="311" r:id="rId51"/>
    <p:sldId id="298" r:id="rId52"/>
    <p:sldId id="299" r:id="rId53"/>
    <p:sldId id="300" r:id="rId54"/>
    <p:sldId id="301" r:id="rId55"/>
    <p:sldId id="302" r:id="rId56"/>
    <p:sldId id="303" r:id="rId57"/>
    <p:sldId id="304" r:id="rId58"/>
    <p:sldId id="305" r:id="rId59"/>
    <p:sldId id="306" r:id="rId60"/>
    <p:sldId id="307" r:id="rId61"/>
    <p:sldId id="308" r:id="rId62"/>
    <p:sldId id="312" r:id="rId63"/>
    <p:sldId id="313" r:id="rId64"/>
    <p:sldId id="314" r:id="rId65"/>
    <p:sldId id="315" r:id="rId66"/>
    <p:sldId id="316" r:id="rId67"/>
    <p:sldId id="445" r:id="rId68"/>
    <p:sldId id="444" r:id="rId69"/>
    <p:sldId id="317" r:id="rId70"/>
    <p:sldId id="31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391A818-3148-46C3-87F7-C123472F7CA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91A818-3148-46C3-87F7-C123472F7CA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91A818-3148-46C3-87F7-C123472F7CA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91A818-3148-46C3-87F7-C123472F7CA4}"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91A818-3148-46C3-87F7-C123472F7CA4}"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91A818-3148-46C3-87F7-C123472F7CA4}"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91A818-3148-46C3-87F7-C123472F7CA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91A818-3148-46C3-87F7-C123472F7CA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1A818-3148-46C3-87F7-C123472F7CA4}" type="datetimeFigureOut">
              <a:rPr lang="en-US" smtClean="0"/>
              <a:t>11/12/2025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B648D0-30D4-4602-849F-05F9D94C95E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88228" y="3026847"/>
            <a:ext cx="8025230" cy="1655762"/>
          </a:xfrm>
        </p:spPr>
        <p:txBody>
          <a:bodyPr>
            <a:normAutofit/>
          </a:bodyPr>
          <a:lstStyle/>
          <a:p>
            <a:r>
              <a:rPr lang="en-IN" altLang="en-US" sz="4000" dirty="0">
                <a:solidFill>
                  <a:schemeClr val="tx1">
                    <a:lumMod val="50000"/>
                    <a:lumOff val="50000"/>
                  </a:schemeClr>
                </a:solidFill>
                <a:latin typeface="Trebuchet MS" panose="020B0603020202020204" pitchFamily="34" charset="0"/>
              </a:rPr>
              <a:t>React</a:t>
            </a:r>
          </a:p>
          <a:p>
            <a:endParaRPr lang="en-US" sz="4000" dirty="0">
              <a:solidFill>
                <a:schemeClr val="tx1">
                  <a:lumMod val="50000"/>
                  <a:lumOff val="50000"/>
                </a:schemeClr>
              </a:solidFill>
              <a:latin typeface="Trebuchet MS" panose="020B0603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React</a:t>
            </a:r>
            <a:endParaRPr lang="en-US" sz="3600" dirty="0"/>
          </a:p>
        </p:txBody>
      </p:sp>
      <p:sp>
        <p:nvSpPr>
          <p:cNvPr id="3" name="Subtitle 2"/>
          <p:cNvSpPr>
            <a:spLocks noGrp="1"/>
          </p:cNvSpPr>
          <p:nvPr>
            <p:ph type="subTitle" idx="1"/>
          </p:nvPr>
        </p:nvSpPr>
        <p:spPr>
          <a:xfrm>
            <a:off x="816087" y="1194619"/>
            <a:ext cx="11041626" cy="5058693"/>
          </a:xfrm>
        </p:spPr>
        <p:txBody>
          <a:bodyPr>
            <a:normAutofit lnSpcReduction="10000"/>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React is an open-source JavaScript library for building user interfaces (UI) or user interface components in web applications. It was developed and is maintained by Facebook and a community of individual developers. React is widely used for creating interactive and dynamic Single Page Applications (SPAs) and is one of the most popular front-end libraries in the web development ecosystem.</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main features and principles of React include:</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Component-Based Architecture: React follows a component-based architecture, where the UI is divided into small, reusable components. Each component encapsulates its own logic and state, making it easier to manage and maintain complex user interfaces.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React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Virtual DOM: React uses a virtual DOM (Document Object Model) to efficiently update and render changes to the UI. The virtual DOM is a lightweight copy of the actual DOM, and React compares it with the previous version to determine what changes need to be applied to the real DOM. This approach helps reduce unnecessary DOM manipulation and improves performance.</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Declarative Syntax: React uses a declarative syntax, which means developers describe how the UI should look based on the current state, and React takes care of updating the actual DOM to match that state. This approach makes the code more readable and easier to reason about.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React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JSX (JavaScript XML): React allows developers to use JSX, which is a syntax extension that lets you write HTML-like code within JavaScript. JSX makes it more intuitive to describe the structure of the UI components and their relationships.</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Overall, React provides a powerful and flexible foundation for building user interfaces that are efficient, maintainable, and scalable.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SPA</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A Single Page Application (SPA) is a web application that operates within a single HTML page and dynamically updates its content as the user interacts with the application, without requiring a full page reload. In traditional multi-page applications, navigating to different pages involves full page reloads, which can lead to slower user experiences. SPAs, on the other hand, load the initial page and then dynamically load and update content as needed, resulting in a faster and more responsive user interface.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Setup Environment</a:t>
            </a:r>
            <a:endParaRPr lang="en-US" sz="3600" dirty="0"/>
          </a:p>
        </p:txBody>
      </p:sp>
      <p:sp>
        <p:nvSpPr>
          <p:cNvPr id="3" name="Subtitle 2"/>
          <p:cNvSpPr>
            <a:spLocks noGrp="1"/>
          </p:cNvSpPr>
          <p:nvPr>
            <p:ph type="subTitle" idx="1"/>
          </p:nvPr>
        </p:nvSpPr>
        <p:spPr>
          <a:xfrm>
            <a:off x="816087" y="1194619"/>
            <a:ext cx="11041626" cy="5058693"/>
          </a:xfrm>
        </p:spPr>
        <p:txBody>
          <a:bodyPr>
            <a:normAutofit lnSpcReduction="10000"/>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Tools:</a:t>
            </a:r>
          </a:p>
          <a:p>
            <a:pPr marL="914400" lvl="1"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Node.js (v20.19+)</a:t>
            </a:r>
          </a:p>
          <a:p>
            <a:pPr marL="914400" lvl="1"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VS Code</a:t>
            </a:r>
          </a:p>
          <a:p>
            <a:pPr marL="914400" lvl="1" indent="-4572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Vite</a:t>
            </a:r>
            <a:r>
              <a:rPr lang="en-US" dirty="0">
                <a:solidFill>
                  <a:schemeClr val="bg1">
                    <a:lumMod val="50000"/>
                  </a:schemeClr>
                </a:solidFill>
                <a:latin typeface="Trebuchet MS" panose="020B0603020202020204" pitchFamily="34" charset="0"/>
              </a:rPr>
              <a:t> (fast dev tool)</a:t>
            </a:r>
          </a:p>
          <a:p>
            <a:pPr marL="457200" indent="-4572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Vite</a:t>
            </a:r>
            <a:r>
              <a:rPr lang="en-US" dirty="0">
                <a:solidFill>
                  <a:schemeClr val="bg1">
                    <a:lumMod val="50000"/>
                  </a:schemeClr>
                </a:solidFill>
                <a:latin typeface="Trebuchet MS" panose="020B0603020202020204" pitchFamily="34" charset="0"/>
              </a:rPr>
              <a:t> is like Create React App but much faster. It bundles code efficiently and supports TypeScript by default.</a:t>
            </a:r>
          </a:p>
          <a:p>
            <a:pPr marL="457200" indent="-457200" algn="l">
              <a:lnSpc>
                <a:spcPct val="120000"/>
              </a:lnSpc>
              <a:buFont typeface="+mj-lt"/>
              <a:buAutoNum type="arabicPeriod"/>
            </a:pPr>
            <a:r>
              <a:rPr lang="en-US" dirty="0" err="1">
                <a:solidFill>
                  <a:schemeClr val="bg1">
                    <a:lumMod val="50000"/>
                  </a:schemeClr>
                </a:solidFill>
                <a:latin typeface="Trebuchet MS" panose="020B0603020202020204" pitchFamily="34" charset="0"/>
              </a:rPr>
              <a:t>npm</a:t>
            </a:r>
            <a:r>
              <a:rPr lang="en-US" dirty="0">
                <a:solidFill>
                  <a:schemeClr val="bg1">
                    <a:lumMod val="50000"/>
                  </a:schemeClr>
                </a:solidFill>
                <a:latin typeface="Trebuchet MS" panose="020B0603020202020204" pitchFamily="34" charset="0"/>
              </a:rPr>
              <a:t> create </a:t>
            </a:r>
            <a:r>
              <a:rPr lang="en-US" dirty="0" err="1">
                <a:solidFill>
                  <a:schemeClr val="bg1">
                    <a:lumMod val="50000"/>
                  </a:schemeClr>
                </a:solidFill>
                <a:latin typeface="Trebuchet MS" panose="020B0603020202020204" pitchFamily="34" charset="0"/>
              </a:rPr>
              <a:t>vite@latest</a:t>
            </a:r>
            <a:r>
              <a:rPr lang="en-US" dirty="0">
                <a:solidFill>
                  <a:schemeClr val="bg1">
                    <a:lumMod val="50000"/>
                  </a:schemeClr>
                </a:solidFill>
                <a:latin typeface="Trebuchet MS" panose="020B0603020202020204" pitchFamily="34" charset="0"/>
              </a:rPr>
              <a:t> react-</a:t>
            </a:r>
            <a:r>
              <a:rPr lang="en-US" dirty="0" err="1">
                <a:solidFill>
                  <a:schemeClr val="bg1">
                    <a:lumMod val="50000"/>
                  </a:schemeClr>
                </a:solidFill>
                <a:latin typeface="Trebuchet MS" panose="020B0603020202020204" pitchFamily="34" charset="0"/>
              </a:rPr>
              <a:t>ts</a:t>
            </a:r>
            <a:r>
              <a:rPr lang="en-US" dirty="0">
                <a:solidFill>
                  <a:schemeClr val="bg1">
                    <a:lumMod val="50000"/>
                  </a:schemeClr>
                </a:solidFill>
                <a:latin typeface="Trebuchet MS" panose="020B0603020202020204" pitchFamily="34" charset="0"/>
              </a:rPr>
              <a:t>-demo -- --template react-</a:t>
            </a:r>
            <a:r>
              <a:rPr lang="en-US" dirty="0" err="1">
                <a:solidFill>
                  <a:schemeClr val="bg1">
                    <a:lumMod val="50000"/>
                  </a:schemeClr>
                </a:solidFill>
                <a:latin typeface="Trebuchet MS" panose="020B0603020202020204" pitchFamily="34" charset="0"/>
              </a:rPr>
              <a:t>ts</a:t>
            </a:r>
            <a:endParaRPr lang="en-US" dirty="0">
              <a:solidFill>
                <a:schemeClr val="bg1">
                  <a:lumMod val="50000"/>
                </a:schemeClr>
              </a:solidFill>
              <a:latin typeface="Trebuchet MS" panose="020B0603020202020204" pitchFamily="34" charset="0"/>
            </a:endParaRPr>
          </a:p>
          <a:p>
            <a:pPr marL="457200" indent="-457200" algn="l">
              <a:lnSpc>
                <a:spcPct val="120000"/>
              </a:lnSpc>
              <a:buFont typeface="+mj-lt"/>
              <a:buAutoNum type="arabicPeriod"/>
            </a:pPr>
            <a:r>
              <a:rPr lang="en-US" dirty="0">
                <a:solidFill>
                  <a:schemeClr val="bg1">
                    <a:lumMod val="50000"/>
                  </a:schemeClr>
                </a:solidFill>
                <a:latin typeface="Trebuchet MS" panose="020B0603020202020204" pitchFamily="34" charset="0"/>
              </a:rPr>
              <a:t>cd react-</a:t>
            </a:r>
            <a:r>
              <a:rPr lang="en-US" dirty="0" err="1">
                <a:solidFill>
                  <a:schemeClr val="bg1">
                    <a:lumMod val="50000"/>
                  </a:schemeClr>
                </a:solidFill>
                <a:latin typeface="Trebuchet MS" panose="020B0603020202020204" pitchFamily="34" charset="0"/>
              </a:rPr>
              <a:t>ts</a:t>
            </a:r>
            <a:r>
              <a:rPr lang="en-US" dirty="0">
                <a:solidFill>
                  <a:schemeClr val="bg1">
                    <a:lumMod val="50000"/>
                  </a:schemeClr>
                </a:solidFill>
                <a:latin typeface="Trebuchet MS" panose="020B0603020202020204" pitchFamily="34" charset="0"/>
              </a:rPr>
              <a:t>-demo</a:t>
            </a:r>
          </a:p>
          <a:p>
            <a:pPr marL="457200" indent="-457200" algn="l">
              <a:lnSpc>
                <a:spcPct val="120000"/>
              </a:lnSpc>
              <a:buFont typeface="+mj-lt"/>
              <a:buAutoNum type="arabicPeriod"/>
            </a:pPr>
            <a:r>
              <a:rPr lang="en-US" dirty="0" err="1">
                <a:solidFill>
                  <a:schemeClr val="bg1">
                    <a:lumMod val="50000"/>
                  </a:schemeClr>
                </a:solidFill>
                <a:latin typeface="Trebuchet MS" panose="020B0603020202020204" pitchFamily="34" charset="0"/>
              </a:rPr>
              <a:t>npm</a:t>
            </a:r>
            <a:r>
              <a:rPr lang="en-US" dirty="0">
                <a:solidFill>
                  <a:schemeClr val="bg1">
                    <a:lumMod val="50000"/>
                  </a:schemeClr>
                </a:solidFill>
                <a:latin typeface="Trebuchet MS" panose="020B0603020202020204" pitchFamily="34" charset="0"/>
              </a:rPr>
              <a:t> install</a:t>
            </a:r>
          </a:p>
          <a:p>
            <a:pPr marL="457200" indent="-457200" algn="l">
              <a:lnSpc>
                <a:spcPct val="120000"/>
              </a:lnSpc>
              <a:buFont typeface="+mj-lt"/>
              <a:buAutoNum type="arabicPeriod"/>
            </a:pPr>
            <a:r>
              <a:rPr lang="en-US" dirty="0" err="1">
                <a:solidFill>
                  <a:schemeClr val="bg1">
                    <a:lumMod val="50000"/>
                  </a:schemeClr>
                </a:solidFill>
                <a:latin typeface="Trebuchet MS" panose="020B0603020202020204" pitchFamily="34" charset="0"/>
              </a:rPr>
              <a:t>npm</a:t>
            </a:r>
            <a:r>
              <a:rPr lang="en-US" dirty="0">
                <a:solidFill>
                  <a:schemeClr val="bg1">
                    <a:lumMod val="50000"/>
                  </a:schemeClr>
                </a:solidFill>
                <a:latin typeface="Trebuchet MS" panose="020B0603020202020204" pitchFamily="34" charset="0"/>
              </a:rPr>
              <a:t> run dev</a:t>
            </a:r>
          </a:p>
          <a:p>
            <a:pPr marL="457200" indent="-4572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extLst>
      <p:ext uri="{BB962C8B-B14F-4D97-AF65-F5344CB8AC3E}">
        <p14:creationId xmlns:p14="http://schemas.microsoft.com/office/powerpoint/2010/main" val="315220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Folder Structure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457200" indent="-4572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src</a:t>
            </a:r>
            <a:r>
              <a:rPr lang="en-US" dirty="0">
                <a:solidFill>
                  <a:schemeClr val="bg1">
                    <a:lumMod val="50000"/>
                  </a:schemeClr>
                </a:solidFill>
                <a:latin typeface="Trebuchet MS" panose="020B0603020202020204" pitchFamily="34" charset="0"/>
              </a:rPr>
              <a:t>/</a:t>
            </a:r>
          </a:p>
          <a:p>
            <a:pPr marL="457200"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App.tsx</a:t>
            </a:r>
            <a:r>
              <a:rPr lang="en-US" dirty="0">
                <a:solidFill>
                  <a:schemeClr val="bg1">
                    <a:lumMod val="50000"/>
                  </a:schemeClr>
                </a:solidFill>
                <a:latin typeface="Trebuchet MS" panose="020B0603020202020204" pitchFamily="34" charset="0"/>
              </a:rPr>
              <a:t>       → main component</a:t>
            </a:r>
          </a:p>
          <a:p>
            <a:pPr marL="457200"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main.tsx</a:t>
            </a:r>
            <a:r>
              <a:rPr lang="en-US" dirty="0">
                <a:solidFill>
                  <a:schemeClr val="bg1">
                    <a:lumMod val="50000"/>
                  </a:schemeClr>
                </a:solidFill>
                <a:latin typeface="Trebuchet MS" panose="020B0603020202020204" pitchFamily="34" charset="0"/>
              </a:rPr>
              <a:t>      → entry point</a:t>
            </a:r>
          </a:p>
          <a:p>
            <a:pPr marL="457200"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 ┣ assets/       → images, styles</a:t>
            </a:r>
          </a:p>
          <a:p>
            <a:pPr marL="457200" indent="-4572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vite-env.d.ts</a:t>
            </a:r>
            <a:r>
              <a:rPr lang="en-US" dirty="0">
                <a:solidFill>
                  <a:schemeClr val="bg1">
                    <a:lumMod val="50000"/>
                  </a:schemeClr>
                </a:solidFill>
                <a:latin typeface="Trebuchet MS" panose="020B0603020202020204" pitchFamily="34" charset="0"/>
              </a:rPr>
              <a:t> → TypeScript environment file</a:t>
            </a:r>
          </a:p>
          <a:p>
            <a:pPr marL="457200" indent="-4572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extLst>
      <p:ext uri="{BB962C8B-B14F-4D97-AF65-F5344CB8AC3E}">
        <p14:creationId xmlns:p14="http://schemas.microsoft.com/office/powerpoint/2010/main" val="1469787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Component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a component is a self-contained, reusable building block that represents a part of the user interface. Components in React with TypeScript are similar to components in React without TypeScript, but TypeScript adds static typing to the components, making it easier to catch errors and provide better tooling support during development.</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components can be defined using either functional components or class components.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Functional Component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A functional component is a type of component that is defined as a JavaScript function. Functional components are the simplest way of creating components in React. They are also referred to as "stateless" or "dumb" components because they do not have their own internal state and do not manage lifecycle methods like class components.</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To define a functional component with TypeScript, you need to use the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FunctionComponent</a:t>
            </a:r>
            <a:r>
              <a:rPr lang="en-US" dirty="0">
                <a:solidFill>
                  <a:schemeClr val="bg1">
                    <a:lumMod val="50000"/>
                  </a:schemeClr>
                </a:solidFill>
                <a:latin typeface="Trebuchet MS" panose="020B0603020202020204" pitchFamily="34" charset="0"/>
              </a:rPr>
              <a:t>) type, which allows you to specify the type of the props that the component will receive.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Functional Component</a:t>
            </a:r>
            <a:endParaRPr lang="en-US" sz="3600" dirty="0"/>
          </a:p>
        </p:txBody>
      </p:sp>
      <p:sp>
        <p:nvSpPr>
          <p:cNvPr id="3" name="Subtitle 2"/>
          <p:cNvSpPr>
            <a:spLocks noGrp="1"/>
          </p:cNvSpPr>
          <p:nvPr>
            <p:ph type="subTitle" idx="1"/>
          </p:nvPr>
        </p:nvSpPr>
        <p:spPr>
          <a:xfrm>
            <a:off x="816087" y="1032387"/>
            <a:ext cx="11041626" cy="4925959"/>
          </a:xfrm>
        </p:spPr>
        <p:txBody>
          <a:bodyPr>
            <a:normAutofit fontScale="92500" lnSpcReduction="10000"/>
          </a:bodyPr>
          <a:lstStyle/>
          <a:p>
            <a:pPr lvl="0" algn="l">
              <a:lnSpc>
                <a:spcPct val="120000"/>
              </a:lnSpc>
            </a:pPr>
            <a:r>
              <a:rPr lang="en-US" dirty="0">
                <a:solidFill>
                  <a:schemeClr val="bg1">
                    <a:lumMod val="50000"/>
                  </a:schemeClr>
                </a:solidFill>
                <a:latin typeface="Trebuchet MS" panose="020B0603020202020204" pitchFamily="34" charset="0"/>
              </a:rPr>
              <a:t>import React from 'react';</a:t>
            </a:r>
          </a:p>
          <a:p>
            <a:pPr lvl="0" algn="l">
              <a:lnSpc>
                <a:spcPct val="120000"/>
              </a:lnSpc>
            </a:pPr>
            <a:r>
              <a:rPr lang="en-US" dirty="0">
                <a:solidFill>
                  <a:schemeClr val="bg1">
                    <a:lumMod val="50000"/>
                  </a:schemeClr>
                </a:solidFill>
                <a:latin typeface="Trebuchet MS" panose="020B0603020202020204" pitchFamily="34" charset="0"/>
              </a:rPr>
              <a:t>// Define the component props interface using TypeScript</a:t>
            </a:r>
          </a:p>
          <a:p>
            <a:pPr lvl="0" algn="l">
              <a:lnSpc>
                <a:spcPct val="120000"/>
              </a:lnSpc>
            </a:pPr>
            <a:r>
              <a:rPr lang="en-US" dirty="0">
                <a:solidFill>
                  <a:schemeClr val="bg1">
                    <a:lumMod val="50000"/>
                  </a:schemeClr>
                </a:solidFill>
                <a:latin typeface="Trebuchet MS" panose="020B0603020202020204" pitchFamily="34" charset="0"/>
              </a:rPr>
              <a:t>interface </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 {</a:t>
            </a:r>
          </a:p>
          <a:p>
            <a:pPr lvl="0" algn="l">
              <a:lnSpc>
                <a:spcPct val="120000"/>
              </a:lnSpc>
            </a:pPr>
            <a:r>
              <a:rPr lang="en-US" dirty="0">
                <a:solidFill>
                  <a:schemeClr val="bg1">
                    <a:lumMod val="50000"/>
                  </a:schemeClr>
                </a:solidFill>
                <a:latin typeface="Trebuchet MS" panose="020B0603020202020204" pitchFamily="34" charset="0"/>
              </a:rPr>
              <a:t>  name: string;</a:t>
            </a:r>
          </a:p>
          <a:p>
            <a:pPr lvl="0" algn="l">
              <a:lnSpc>
                <a:spcPct val="120000"/>
              </a:lnSpc>
            </a:pPr>
            <a:r>
              <a:rPr lang="en-US" dirty="0">
                <a:solidFill>
                  <a:schemeClr val="bg1">
                    <a:lumMod val="50000"/>
                  </a:schemeClr>
                </a:solidFill>
                <a:latin typeface="Trebuchet MS" panose="020B0603020202020204" pitchFamily="34" charset="0"/>
              </a:rPr>
              <a:t>}</a:t>
            </a:r>
          </a:p>
          <a:p>
            <a:pPr lvl="0" algn="l">
              <a:lnSpc>
                <a:spcPct val="120000"/>
              </a:lnSpc>
            </a:pPr>
            <a:r>
              <a:rPr lang="en-US" dirty="0">
                <a:solidFill>
                  <a:schemeClr val="bg1">
                    <a:lumMod val="50000"/>
                  </a:schemeClr>
                </a:solidFill>
                <a:latin typeface="Trebuchet MS" panose="020B0603020202020204" pitchFamily="34" charset="0"/>
              </a:rPr>
              <a:t>// Define the functional component using TypeScript and </a:t>
            </a:r>
            <a:r>
              <a:rPr lang="en-US" dirty="0" err="1">
                <a:solidFill>
                  <a:schemeClr val="bg1">
                    <a:lumMod val="50000"/>
                  </a:schemeClr>
                </a:solidFill>
                <a:latin typeface="Trebuchet MS" panose="020B0603020202020204" pitchFamily="34" charset="0"/>
              </a:rPr>
              <a:t>React.FC</a:t>
            </a:r>
            <a:endParaRPr lang="en-US" dirty="0">
              <a:solidFill>
                <a:schemeClr val="bg1">
                  <a:lumMod val="50000"/>
                </a:schemeClr>
              </a:solidFill>
              <a:latin typeface="Trebuchet MS" panose="020B0603020202020204" pitchFamily="34" charset="0"/>
            </a:endParaRPr>
          </a:p>
          <a:p>
            <a:pPr lvl="0"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&lt;</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&gt; = (props) =&gt; {</a:t>
            </a:r>
          </a:p>
          <a:p>
            <a:pPr lvl="0" algn="l">
              <a:lnSpc>
                <a:spcPct val="120000"/>
              </a:lnSpc>
            </a:pPr>
            <a:r>
              <a:rPr lang="en-US" dirty="0">
                <a:solidFill>
                  <a:schemeClr val="bg1">
                    <a:lumMod val="50000"/>
                  </a:schemeClr>
                </a:solidFill>
                <a:latin typeface="Trebuchet MS" panose="020B0603020202020204" pitchFamily="34" charset="0"/>
              </a:rPr>
              <a:t>  return &lt;div&gt;Hello, {props.name}!&lt;/div&gt;;</a:t>
            </a:r>
          </a:p>
          <a:p>
            <a:pPr lvl="0" algn="l">
              <a:lnSpc>
                <a:spcPct val="120000"/>
              </a:lnSpc>
            </a:pPr>
            <a:r>
              <a:rPr lang="en-US" dirty="0">
                <a:solidFill>
                  <a:schemeClr val="bg1">
                    <a:lumMod val="50000"/>
                  </a:schemeClr>
                </a:solidFill>
                <a:latin typeface="Trebuchet MS" panose="020B0603020202020204" pitchFamily="34" charset="0"/>
              </a:rPr>
              <a:t>};</a:t>
            </a:r>
          </a:p>
          <a:p>
            <a:pPr lvl="0"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Class Component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a class component is a type of component that is defined as a TypeScript class. Class components were the traditional way of creating components in React, and they are still supported in the latest versions of React, alongside functional components.</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To create a class component in </a:t>
            </a:r>
            <a:r>
              <a:rPr lang="en-US">
                <a:solidFill>
                  <a:schemeClr val="bg1">
                    <a:lumMod val="50000"/>
                  </a:schemeClr>
                </a:solidFill>
                <a:latin typeface="Trebuchet MS" panose="020B0603020202020204" pitchFamily="34" charset="0"/>
              </a:rPr>
              <a:t>React with </a:t>
            </a:r>
            <a:r>
              <a:rPr lang="en-US" dirty="0">
                <a:solidFill>
                  <a:schemeClr val="bg1">
                    <a:lumMod val="50000"/>
                  </a:schemeClr>
                </a:solidFill>
                <a:latin typeface="Trebuchet MS" panose="020B0603020202020204" pitchFamily="34" charset="0"/>
              </a:rPr>
              <a:t>TypeScript, you define a TypeScript class that extends the </a:t>
            </a:r>
            <a:r>
              <a:rPr lang="en-US" dirty="0" err="1">
                <a:solidFill>
                  <a:schemeClr val="bg1">
                    <a:lumMod val="50000"/>
                  </a:schemeClr>
                </a:solidFill>
                <a:latin typeface="Trebuchet MS" panose="020B0603020202020204" pitchFamily="34" charset="0"/>
              </a:rPr>
              <a:t>React.Component</a:t>
            </a:r>
            <a:r>
              <a:rPr lang="en-US" dirty="0">
                <a:solidFill>
                  <a:schemeClr val="bg1">
                    <a:lumMod val="50000"/>
                  </a:schemeClr>
                </a:solidFill>
                <a:latin typeface="Trebuchet MS" panose="020B0603020202020204" pitchFamily="34" charset="0"/>
              </a:rPr>
              <a:t> or </a:t>
            </a:r>
            <a:r>
              <a:rPr lang="en-US" dirty="0" err="1">
                <a:solidFill>
                  <a:schemeClr val="bg1">
                    <a:lumMod val="50000"/>
                  </a:schemeClr>
                </a:solidFill>
                <a:latin typeface="Trebuchet MS" panose="020B0603020202020204" pitchFamily="34" charset="0"/>
              </a:rPr>
              <a:t>React.PureComponent</a:t>
            </a:r>
            <a:r>
              <a:rPr lang="en-US" dirty="0">
                <a:solidFill>
                  <a:schemeClr val="bg1">
                    <a:lumMod val="50000"/>
                  </a:schemeClr>
                </a:solidFill>
                <a:latin typeface="Trebuchet MS" panose="020B0603020202020204" pitchFamily="34" charset="0"/>
              </a:rPr>
              <a:t> class, and you implement the render() method to define what the component should render.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Class Component</a:t>
            </a:r>
            <a:endParaRPr lang="en-US" sz="3600" dirty="0"/>
          </a:p>
        </p:txBody>
      </p:sp>
      <p:sp>
        <p:nvSpPr>
          <p:cNvPr id="3" name="Subtitle 2"/>
          <p:cNvSpPr>
            <a:spLocks noGrp="1"/>
          </p:cNvSpPr>
          <p:nvPr>
            <p:ph type="subTitle" idx="1"/>
          </p:nvPr>
        </p:nvSpPr>
        <p:spPr>
          <a:xfrm>
            <a:off x="816087" y="1194619"/>
            <a:ext cx="11041626" cy="5058693"/>
          </a:xfrm>
        </p:spPr>
        <p:txBody>
          <a:bodyPr>
            <a:normAutofit fontScale="77500" lnSpcReduction="20000"/>
          </a:bodyPr>
          <a:lstStyle/>
          <a:p>
            <a:pPr lvl="0" algn="l">
              <a:lnSpc>
                <a:spcPct val="120000"/>
              </a:lnSpc>
            </a:pPr>
            <a:r>
              <a:rPr lang="en-US" dirty="0">
                <a:solidFill>
                  <a:schemeClr val="bg1">
                    <a:lumMod val="50000"/>
                  </a:schemeClr>
                </a:solidFill>
                <a:latin typeface="Trebuchet MS" panose="020B0603020202020204" pitchFamily="34" charset="0"/>
              </a:rPr>
              <a:t>import React, { Component } from 'react';</a:t>
            </a:r>
          </a:p>
          <a:p>
            <a:pPr lvl="0" algn="l">
              <a:lnSpc>
                <a:spcPct val="120000"/>
              </a:lnSpc>
            </a:pPr>
            <a:r>
              <a:rPr lang="en-US" dirty="0">
                <a:solidFill>
                  <a:schemeClr val="bg1">
                    <a:lumMod val="50000"/>
                  </a:schemeClr>
                </a:solidFill>
                <a:latin typeface="Trebuchet MS" panose="020B0603020202020204" pitchFamily="34" charset="0"/>
              </a:rPr>
              <a:t>// Define the component props interface using TypeScript</a:t>
            </a:r>
          </a:p>
          <a:p>
            <a:pPr lvl="0" algn="l">
              <a:lnSpc>
                <a:spcPct val="120000"/>
              </a:lnSpc>
            </a:pPr>
            <a:r>
              <a:rPr lang="en-US" dirty="0">
                <a:solidFill>
                  <a:schemeClr val="bg1">
                    <a:lumMod val="50000"/>
                  </a:schemeClr>
                </a:solidFill>
                <a:latin typeface="Trebuchet MS" panose="020B0603020202020204" pitchFamily="34" charset="0"/>
              </a:rPr>
              <a:t>interface </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 {</a:t>
            </a:r>
          </a:p>
          <a:p>
            <a:pPr lvl="0" algn="l">
              <a:lnSpc>
                <a:spcPct val="120000"/>
              </a:lnSpc>
            </a:pPr>
            <a:r>
              <a:rPr lang="en-US" dirty="0">
                <a:solidFill>
                  <a:schemeClr val="bg1">
                    <a:lumMod val="50000"/>
                  </a:schemeClr>
                </a:solidFill>
                <a:latin typeface="Trebuchet MS" panose="020B0603020202020204" pitchFamily="34" charset="0"/>
              </a:rPr>
              <a:t>  name: string;</a:t>
            </a:r>
          </a:p>
          <a:p>
            <a:pPr lvl="0" algn="l">
              <a:lnSpc>
                <a:spcPct val="120000"/>
              </a:lnSpc>
            </a:pPr>
            <a:r>
              <a:rPr lang="en-US" dirty="0">
                <a:solidFill>
                  <a:schemeClr val="bg1">
                    <a:lumMod val="50000"/>
                  </a:schemeClr>
                </a:solidFill>
                <a:latin typeface="Trebuchet MS" panose="020B0603020202020204" pitchFamily="34" charset="0"/>
              </a:rPr>
              <a:t>}</a:t>
            </a:r>
          </a:p>
          <a:p>
            <a:pPr lvl="0" algn="l">
              <a:lnSpc>
                <a:spcPct val="120000"/>
              </a:lnSpc>
            </a:pPr>
            <a:r>
              <a:rPr lang="en-US" dirty="0">
                <a:solidFill>
                  <a:schemeClr val="bg1">
                    <a:lumMod val="50000"/>
                  </a:schemeClr>
                </a:solidFill>
                <a:latin typeface="Trebuchet MS" panose="020B0603020202020204" pitchFamily="34" charset="0"/>
              </a:rPr>
              <a:t>// Define the class component</a:t>
            </a:r>
          </a:p>
          <a:p>
            <a:pPr lvl="0" algn="l">
              <a:lnSpc>
                <a:spcPct val="120000"/>
              </a:lnSpc>
            </a:pPr>
            <a:r>
              <a:rPr lang="en-US" dirty="0">
                <a:solidFill>
                  <a:schemeClr val="bg1">
                    <a:lumMod val="50000"/>
                  </a:schemeClr>
                </a:solidFill>
                <a:latin typeface="Trebuchet MS" panose="020B0603020202020204" pitchFamily="34" charset="0"/>
              </a:rPr>
              <a:t>class </a:t>
            </a:r>
            <a:r>
              <a:rPr lang="en-US" dirty="0" err="1">
                <a:solidFill>
                  <a:schemeClr val="bg1">
                    <a:lumMod val="50000"/>
                  </a:schemeClr>
                </a:solidFill>
                <a:latin typeface="Trebuchet MS" panose="020B0603020202020204" pitchFamily="34" charset="0"/>
              </a:rPr>
              <a:t>MyClassComponent</a:t>
            </a:r>
            <a:r>
              <a:rPr lang="en-US" dirty="0">
                <a:solidFill>
                  <a:schemeClr val="bg1">
                    <a:lumMod val="50000"/>
                  </a:schemeClr>
                </a:solidFill>
                <a:latin typeface="Trebuchet MS" panose="020B0603020202020204" pitchFamily="34" charset="0"/>
              </a:rPr>
              <a:t> extends Component&lt;</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&gt; {</a:t>
            </a:r>
          </a:p>
          <a:p>
            <a:pPr lvl="0" algn="l">
              <a:lnSpc>
                <a:spcPct val="120000"/>
              </a:lnSpc>
            </a:pPr>
            <a:r>
              <a:rPr lang="en-US" dirty="0">
                <a:solidFill>
                  <a:schemeClr val="bg1">
                    <a:lumMod val="50000"/>
                  </a:schemeClr>
                </a:solidFill>
                <a:latin typeface="Trebuchet MS" panose="020B0603020202020204" pitchFamily="34" charset="0"/>
              </a:rPr>
              <a:t>  render() {</a:t>
            </a:r>
          </a:p>
          <a:p>
            <a:pPr lvl="0" algn="l">
              <a:lnSpc>
                <a:spcPct val="120000"/>
              </a:lnSpc>
            </a:pPr>
            <a:r>
              <a:rPr lang="en-US" dirty="0">
                <a:solidFill>
                  <a:schemeClr val="bg1">
                    <a:lumMod val="50000"/>
                  </a:schemeClr>
                </a:solidFill>
                <a:latin typeface="Trebuchet MS" panose="020B0603020202020204" pitchFamily="34" charset="0"/>
              </a:rPr>
              <a:t>    return &lt;div&gt;Hello, {this.props.name}! I am a class component.&lt;/div&gt;;</a:t>
            </a:r>
          </a:p>
          <a:p>
            <a:pPr lvl="0" algn="l">
              <a:lnSpc>
                <a:spcPct val="120000"/>
              </a:lnSpc>
            </a:pPr>
            <a:r>
              <a:rPr lang="en-US" dirty="0">
                <a:solidFill>
                  <a:schemeClr val="bg1">
                    <a:lumMod val="50000"/>
                  </a:schemeClr>
                </a:solidFill>
                <a:latin typeface="Trebuchet MS" panose="020B0603020202020204" pitchFamily="34" charset="0"/>
              </a:rPr>
              <a:t>  }</a:t>
            </a:r>
          </a:p>
          <a:p>
            <a:pPr lvl="0" algn="l">
              <a:lnSpc>
                <a:spcPct val="120000"/>
              </a:lnSpc>
            </a:pPr>
            <a:r>
              <a:rPr lang="en-US" dirty="0">
                <a:solidFill>
                  <a:schemeClr val="bg1">
                    <a:lumMod val="50000"/>
                  </a:schemeClr>
                </a:solidFill>
                <a:latin typeface="Trebuchet MS" panose="020B0603020202020204" pitchFamily="34" charset="0"/>
              </a:rPr>
              <a:t>}</a:t>
            </a:r>
          </a:p>
          <a:p>
            <a:pPr lvl="0"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MyClassComponent</a:t>
            </a:r>
            <a:r>
              <a:rPr lang="en-US" dirty="0">
                <a:solidFill>
                  <a:schemeClr val="bg1">
                    <a:lumMod val="50000"/>
                  </a:schemeClr>
                </a:solidFill>
                <a:latin typeface="Trebuchet MS" panose="020B0603020202020204" pitchFamily="34" charset="0"/>
              </a:rPr>
              <a:t>;</a:t>
            </a:r>
          </a:p>
          <a:p>
            <a:pPr lvl="0" algn="l">
              <a:lnSpc>
                <a:spcPct val="120000"/>
              </a:lnSpc>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lnSpcReduction="10000"/>
          </a:bodyPr>
          <a:lstStyle/>
          <a:p>
            <a:pPr algn="l">
              <a:lnSpc>
                <a:spcPct val="120000"/>
              </a:lnSpc>
              <a:buFont typeface="Arial" panose="020B0604020202020204" pitchFamily="34" charset="0"/>
            </a:pPr>
            <a:r>
              <a:rPr lang="en-IN" altLang="en-US" dirty="0">
                <a:solidFill>
                  <a:schemeClr val="bg1">
                    <a:lumMod val="50000"/>
                  </a:schemeClr>
                </a:solidFill>
                <a:latin typeface="Trebuchet MS" panose="020B0603020202020204" pitchFamily="34" charset="0"/>
              </a:rPr>
              <a:t>1.</a:t>
            </a:r>
            <a:r>
              <a:rPr lang="en-US" dirty="0">
                <a:solidFill>
                  <a:schemeClr val="bg1">
                    <a:lumMod val="50000"/>
                  </a:schemeClr>
                </a:solidFill>
                <a:latin typeface="Trebuchet MS" panose="020B0603020202020204" pitchFamily="34" charset="0"/>
              </a:rPr>
              <a:t>Initialization (Constructor):</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Constructor (constructor(props)) is called when an instance of the component is created. This is where you set the initial state, bind methods, and perform one-time setup.</a:t>
            </a:r>
          </a:p>
          <a:p>
            <a:pPr algn="l">
              <a:lnSpc>
                <a:spcPct val="120000"/>
              </a:lnSpc>
              <a:buFont typeface="Arial" panose="020B0604020202020204" pitchFamily="34" charset="0"/>
            </a:pPr>
            <a:r>
              <a:rPr lang="en-IN" altLang="en-US" dirty="0">
                <a:solidFill>
                  <a:schemeClr val="bg1">
                    <a:lumMod val="50000"/>
                  </a:schemeClr>
                </a:solidFill>
                <a:latin typeface="Trebuchet MS" panose="020B0603020202020204" pitchFamily="34" charset="0"/>
              </a:rPr>
              <a:t>2.</a:t>
            </a:r>
            <a:r>
              <a:rPr lang="en-US" dirty="0">
                <a:solidFill>
                  <a:schemeClr val="bg1">
                    <a:lumMod val="50000"/>
                  </a:schemeClr>
                </a:solidFill>
                <a:latin typeface="Trebuchet MS" panose="020B0603020202020204" pitchFamily="34" charset="0"/>
              </a:rPr>
              <a:t>Mounting:</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componentWillMount (deprecated) - Called just before the component is rendered to the DOM.</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render - This method is responsible for rendering the component's JSX onto the DOM.</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componentDidMount - Called immediately after the component is inserted into the DOM. It's a good place to perform AJAX requests or set up subscriptions.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fontScale="92500"/>
          </a:bodyPr>
          <a:lstStyle/>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componentDidMount -Use Cases: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1.Data Fetching: It is a common use case to fetch data from an API or perform initial data loading when the component is mounted. This is often done to populate the component's state with data.</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2.Subscriptions and Event Listeners: You can set up subscriptions to external data sources or add event listeners to the DOM when the component is mounted. This is important for real-time updates and interactions.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3.Integrating Third-Party Libraries: When integrating external libraries, you might want to initialize and configure them in componentDidMount after the component has been mounted.</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4.DOM Manipulation: If you need to interact with the DOM directly, such as measuring elements or setting focus, componentDidMount is the appropriate place to do so.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a:bodyPr>
          <a:lstStyle/>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componentDidMount -Use Cases: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5.Timers and Animation: You can start timers for animations or periodic updates when the component is mounted.</a:t>
            </a:r>
          </a:p>
          <a:p>
            <a:pPr algn="l">
              <a:lnSpc>
                <a:spcPct val="120000"/>
              </a:lnSpc>
              <a:buFont typeface="Arial" panose="020B0604020202020204" pitchFamily="34" charset="0"/>
            </a:pPr>
            <a:endParaRPr lang="en-US" dirty="0">
              <a:solidFill>
                <a:schemeClr val="bg1">
                  <a:lumMod val="50000"/>
                </a:schemeClr>
              </a:solidFill>
              <a:latin typeface="Trebuchet MS" panose="020B0603020202020204" pitchFamily="34" charset="0"/>
            </a:endParaRP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6.Setting Up Local State: You might want to initialize the component's state based on props or other conditions when the component is initially mounted.</a:t>
            </a:r>
          </a:p>
          <a:p>
            <a:pPr algn="l">
              <a:lnSpc>
                <a:spcPct val="120000"/>
              </a:lnSpc>
              <a:buFont typeface="Arial" panose="020B0604020202020204" pitchFamily="34" charset="0"/>
            </a:pPr>
            <a:endParaRPr lang="en-US" dirty="0">
              <a:solidFill>
                <a:schemeClr val="bg1">
                  <a:lumMod val="50000"/>
                </a:schemeClr>
              </a:solidFill>
              <a:latin typeface="Trebuchet MS" panose="020B0603020202020204" pitchFamily="34" charset="0"/>
            </a:endParaRP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componentDidMount is an essential part of the component lifecycle for performing tasks that should only happen once, right after the component is mounted. It's a good place to perform initial setup and data loading for your component.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lnSpcReduction="10000"/>
          </a:bodyPr>
          <a:lstStyle/>
          <a:p>
            <a:pPr algn="l">
              <a:lnSpc>
                <a:spcPct val="120000"/>
              </a:lnSpc>
              <a:buFont typeface="Arial" panose="020B0604020202020204" pitchFamily="34" charset="0"/>
            </a:pPr>
            <a:r>
              <a:rPr lang="en-IN" altLang="en-US" dirty="0">
                <a:solidFill>
                  <a:schemeClr val="bg1">
                    <a:lumMod val="50000"/>
                  </a:schemeClr>
                </a:solidFill>
                <a:latin typeface="Trebuchet MS" panose="020B0603020202020204" pitchFamily="34" charset="0"/>
              </a:rPr>
              <a:t>3.</a:t>
            </a:r>
            <a:r>
              <a:rPr lang="en-US" dirty="0">
                <a:solidFill>
                  <a:schemeClr val="bg1">
                    <a:lumMod val="50000"/>
                  </a:schemeClr>
                </a:solidFill>
                <a:latin typeface="Trebuchet MS" panose="020B0603020202020204" pitchFamily="34" charset="0"/>
              </a:rPr>
              <a:t>Updating:</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componentWillReceiveProps (deprecated) - Called when the component is receiving new props. You can compare the new and old props and perform updates as needed.</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shouldComponentUpdate - Allows you to control if the component should re-render based on new props and state.</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componentWillUpdate (deprecated) - Called just before the component re-renders.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render - Renders the updated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componentDidUpdate - Called after the component has been re-rendered in the DOM.( state or props have been updated and the changes are reflected in the DOM)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lnSpcReduction="10000"/>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componentDidUpdate - UseCases: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1.Data Fetching and Updating UI: You can use componentDidUpdate to make AJAX requests or fetch data from an API when a prop or state changes, and then update the component's UI based on the new data.</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2.Managing External Libraries: When integrating third-party libraries that require interaction with the DOM or updates based on state changes, componentDidUpdate can be used to initialize or update these libraries.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3.Scroll Position Management: You can use componentDidUpdate to scroll to a specific position on the page when certain conditions are met.</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4.Handling Animations: If you're working with animations and need to trigger animations when the component updates, you can do so in componentDidUpdate.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componentDidUpdate - UseCases:</a:t>
            </a: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5.Managing Subscriptions: When working with subscriptions or event listeners, you can set them up in componentDidMount and clean them up in componentWillUnmount, but you may also need to re-subscribe or update subscriptions in componentDidUpdate when props or state changes require it.</a:t>
            </a:r>
          </a:p>
          <a:p>
            <a:pPr algn="l">
              <a:lnSpc>
                <a:spcPct val="120000"/>
              </a:lnSpc>
              <a:buFont typeface="Arial" panose="020B0604020202020204" pitchFamily="34" charset="0"/>
            </a:pPr>
            <a:endParaRPr lang="en-US" dirty="0">
              <a:solidFill>
                <a:schemeClr val="bg1">
                  <a:lumMod val="50000"/>
                </a:schemeClr>
              </a:solidFill>
              <a:latin typeface="Trebuchet MS" panose="020B0603020202020204" pitchFamily="34" charset="0"/>
            </a:endParaRPr>
          </a:p>
          <a:p>
            <a:pPr algn="l">
              <a:lnSpc>
                <a:spcPct val="120000"/>
              </a:lnSpc>
              <a:buFont typeface="Arial" panose="020B0604020202020204" pitchFamily="34" charset="0"/>
            </a:pPr>
            <a:r>
              <a:rPr lang="en-US" dirty="0">
                <a:solidFill>
                  <a:schemeClr val="bg1">
                    <a:lumMod val="50000"/>
                  </a:schemeClr>
                </a:solidFill>
                <a:latin typeface="Trebuchet MS" panose="020B0603020202020204" pitchFamily="34" charset="0"/>
              </a:rPr>
              <a:t>It's important to note that with the introduction of functional components and hooks, many of these scenarios can be handled more cleanly using hooks like useEffect in a functional component. Nevertheless, componentDidUpdate is still relevant for class components and for handling specific edge cases where functional components might not be the best fit.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IN" altLang="en-US" sz="3600" dirty="0">
                <a:solidFill>
                  <a:prstClr val="white">
                    <a:lumMod val="50000"/>
                  </a:prstClr>
                </a:solidFill>
                <a:latin typeface="Trebuchet MS" panose="020B0603020202020204" pitchFamily="34" charset="0"/>
              </a:rPr>
              <a:t>Class Component Lifecycle </a:t>
            </a:r>
          </a:p>
        </p:txBody>
      </p:sp>
      <p:sp>
        <p:nvSpPr>
          <p:cNvPr id="3" name="Subtitle 2"/>
          <p:cNvSpPr>
            <a:spLocks noGrp="1"/>
          </p:cNvSpPr>
          <p:nvPr>
            <p:ph type="subTitle" idx="1"/>
          </p:nvPr>
        </p:nvSpPr>
        <p:spPr>
          <a:xfrm>
            <a:off x="816087" y="1032387"/>
            <a:ext cx="11041626" cy="5663381"/>
          </a:xfrm>
        </p:spPr>
        <p:txBody>
          <a:bodyPr>
            <a:normAutofit/>
          </a:bodyPr>
          <a:lstStyle/>
          <a:p>
            <a:pPr algn="l">
              <a:lnSpc>
                <a:spcPct val="120000"/>
              </a:lnSpc>
              <a:buFont typeface="Arial" panose="020B0604020202020204" pitchFamily="34" charset="0"/>
            </a:pPr>
            <a:r>
              <a:rPr lang="en-IN" altLang="en-US" dirty="0">
                <a:solidFill>
                  <a:schemeClr val="bg1">
                    <a:lumMod val="50000"/>
                  </a:schemeClr>
                </a:solidFill>
                <a:latin typeface="Trebuchet MS" panose="020B0603020202020204" pitchFamily="34" charset="0"/>
              </a:rPr>
              <a:t>4.Unmounting:</a:t>
            </a:r>
          </a:p>
          <a:p>
            <a:pPr marL="342900" indent="-342900" algn="l">
              <a:lnSpc>
                <a:spcPct val="120000"/>
              </a:lnSpc>
              <a:buFont typeface="Arial" panose="020B0604020202020204" pitchFamily="34" charset="0"/>
              <a:buChar char="•"/>
            </a:pPr>
            <a:r>
              <a:rPr lang="en-IN" altLang="en-US" dirty="0">
                <a:solidFill>
                  <a:schemeClr val="bg1">
                    <a:lumMod val="50000"/>
                  </a:schemeClr>
                </a:solidFill>
                <a:latin typeface="Trebuchet MS" panose="020B0603020202020204" pitchFamily="34" charset="0"/>
              </a:rPr>
              <a:t>componentWillUnmount - Called just before the component is removed from the DOM. You can use this for cleanup tasks, like unsubscribing from events.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State and Props</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State is a mechanism to store and manage component-specific data that can change over time.</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State is used in class components and functional components with hooks (using the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hook).</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To define state in a class component, you declare a state property in the component's class constructor, and to update it, you use the </a:t>
            </a:r>
            <a:r>
              <a:rPr lang="en-US" dirty="0" err="1">
                <a:solidFill>
                  <a:schemeClr val="bg1">
                    <a:lumMod val="50000"/>
                  </a:schemeClr>
                </a:solidFill>
                <a:latin typeface="Trebuchet MS" panose="020B0603020202020204" pitchFamily="34" charset="0"/>
              </a:rPr>
              <a:t>setState</a:t>
            </a:r>
            <a:r>
              <a:rPr lang="en-US" dirty="0">
                <a:solidFill>
                  <a:schemeClr val="bg1">
                    <a:lumMod val="50000"/>
                  </a:schemeClr>
                </a:solidFill>
                <a:latin typeface="Trebuchet MS" panose="020B0603020202020204" pitchFamily="34" charset="0"/>
              </a:rPr>
              <a:t> method.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State and Props</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functional components with hooks, you use the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hook to create and update state variables.</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State should be used for data that is specific to a component and might change during the component's lifecycle.</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Changes to state trigger a re-render of the component and its children, updating the UI to reflect the new state.</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State and Props</a:t>
            </a:r>
            <a:endParaRPr lang="en-US" sz="3600" dirty="0"/>
          </a:p>
        </p:txBody>
      </p:sp>
      <p:sp>
        <p:nvSpPr>
          <p:cNvPr id="3" name="Subtitle 2"/>
          <p:cNvSpPr>
            <a:spLocks noGrp="1"/>
          </p:cNvSpPr>
          <p:nvPr>
            <p:ph type="subTitle" idx="1"/>
          </p:nvPr>
        </p:nvSpPr>
        <p:spPr>
          <a:xfrm>
            <a:off x="816087" y="1194619"/>
            <a:ext cx="11041626" cy="5058693"/>
          </a:xfrm>
        </p:spPr>
        <p:txBody>
          <a:bodyPr>
            <a:normAutofit lnSpcReduction="10000"/>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Props (short for properties) are used to pass data from a parent component to a child component.</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Props are immutable, meaning they cannot be modified by the child component that receives them.</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Props are used to customize the behavior or appearance of a child component based on the data passed by its parent component.</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Props are defined when a component is used and passed down from parent to child as attributes.</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functional components, you access props as a parameter of the component function, while in class components, you access them using </a:t>
            </a:r>
            <a:r>
              <a:rPr lang="en-US" dirty="0" err="1">
                <a:solidFill>
                  <a:schemeClr val="bg1">
                    <a:lumMod val="50000"/>
                  </a:schemeClr>
                </a:solidFill>
                <a:latin typeface="Trebuchet MS" panose="020B0603020202020204" pitchFamily="34" charset="0"/>
              </a:rPr>
              <a:t>this.props</a:t>
            </a:r>
            <a:r>
              <a:rPr lang="en-US" dirty="0">
                <a:solidFill>
                  <a:schemeClr val="bg1">
                    <a:lumMod val="50000"/>
                  </a:schemeClr>
                </a:solidFill>
                <a:latin typeface="Trebuchet MS" panose="020B0603020202020204"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sym typeface="+mn-ea"/>
              </a:rPr>
              <a:t>setState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sym typeface="+mn-ea"/>
              </a:rPr>
              <a:t>In React, each component can have a state. The state could be anything: whether or not the user is logged in, what color to display for a button, etc.</a:t>
            </a: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sym typeface="+mn-ea"/>
              </a:rPr>
              <a:t>The UI is rendered based on the state. When the state changes, so does the UI.</a:t>
            </a: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sym typeface="+mn-ea"/>
              </a:rPr>
              <a:t>setState</a:t>
            </a:r>
            <a:r>
              <a:rPr lang="en-US" dirty="0">
                <a:solidFill>
                  <a:schemeClr val="bg1">
                    <a:lumMod val="50000"/>
                  </a:schemeClr>
                </a:solidFill>
                <a:latin typeface="Trebuchet MS" panose="020B0603020202020204" pitchFamily="34" charset="0"/>
                <a:sym typeface="+mn-ea"/>
              </a:rPr>
              <a:t>() allows you to change state in a React class component.</a:t>
            </a: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sym typeface="+mn-ea"/>
              </a:rPr>
              <a:t>setState</a:t>
            </a:r>
            <a:r>
              <a:rPr lang="en-US" dirty="0">
                <a:solidFill>
                  <a:schemeClr val="bg1">
                    <a:lumMod val="50000"/>
                  </a:schemeClr>
                </a:solidFill>
                <a:latin typeface="Trebuchet MS" panose="020B0603020202020204" pitchFamily="34" charset="0"/>
                <a:sym typeface="+mn-ea"/>
              </a:rPr>
              <a:t>() enqueues change to the component state and tell React that this component and its children need to be re-rendered with the updated state. This is the primary method you should use to update the UI.</a:t>
            </a: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sym typeface="+mn-ea"/>
              </a:rPr>
              <a:t>setState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Syntax</a:t>
            </a:r>
            <a:endParaRPr lang="en-US" sz="2400"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sz="2400" dirty="0" err="1">
                <a:solidFill>
                  <a:schemeClr val="bg1">
                    <a:lumMod val="50000"/>
                  </a:schemeClr>
                </a:solidFill>
                <a:latin typeface="Trebuchet MS" panose="020B0603020202020204" pitchFamily="34" charset="0"/>
                <a:sym typeface="+mn-ea"/>
              </a:rPr>
              <a:t>setState</a:t>
            </a:r>
            <a:r>
              <a:rPr lang="en-US" sz="2400" dirty="0">
                <a:solidFill>
                  <a:schemeClr val="bg1">
                    <a:lumMod val="50000"/>
                  </a:schemeClr>
                </a:solidFill>
                <a:latin typeface="Trebuchet MS" panose="020B0603020202020204" pitchFamily="34" charset="0"/>
                <a:sym typeface="+mn-ea"/>
              </a:rPr>
              <a:t>(updater, [callback])</a:t>
            </a:r>
            <a:endParaRPr lang="en-US" sz="2400"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Updater:</a:t>
            </a:r>
            <a:endParaRPr lang="en-US" sz="2400" dirty="0">
              <a:solidFill>
                <a:schemeClr val="bg1">
                  <a:lumMod val="50000"/>
                </a:schemeClr>
              </a:solidFill>
              <a:latin typeface="Trebuchet MS" panose="020B0603020202020204" pitchFamily="34" charset="0"/>
            </a:endParaRPr>
          </a:p>
          <a:p>
            <a:pPr marL="800100" lvl="1"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A function with the signature: (state, props) =&gt; </a:t>
            </a:r>
            <a:r>
              <a:rPr lang="en-US" sz="2400" dirty="0" err="1">
                <a:solidFill>
                  <a:schemeClr val="bg1">
                    <a:lumMod val="50000"/>
                  </a:schemeClr>
                </a:solidFill>
                <a:latin typeface="Trebuchet MS" panose="020B0603020202020204" pitchFamily="34" charset="0"/>
                <a:sym typeface="+mn-ea"/>
              </a:rPr>
              <a:t>stateChange</a:t>
            </a:r>
            <a:r>
              <a:rPr lang="en-US" sz="2400" dirty="0">
                <a:solidFill>
                  <a:schemeClr val="bg1">
                    <a:lumMod val="50000"/>
                  </a:schemeClr>
                </a:solidFill>
                <a:latin typeface="Trebuchet MS" panose="020B0603020202020204" pitchFamily="34" charset="0"/>
                <a:sym typeface="+mn-ea"/>
              </a:rPr>
              <a:t>.</a:t>
            </a:r>
            <a:endParaRPr lang="en-US" sz="2400" dirty="0">
              <a:solidFill>
                <a:schemeClr val="bg1">
                  <a:lumMod val="50000"/>
                </a:schemeClr>
              </a:solidFill>
              <a:latin typeface="Trebuchet MS" panose="020B0603020202020204" pitchFamily="34" charset="0"/>
            </a:endParaRPr>
          </a:p>
          <a:p>
            <a:pPr marL="800100" lvl="1"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state is the current, up-to-date component state, and the function returns the updated state.</a:t>
            </a:r>
            <a:endParaRPr lang="en-US" sz="2400"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callback</a:t>
            </a:r>
            <a:endParaRPr lang="en-US" sz="2400" dirty="0">
              <a:solidFill>
                <a:schemeClr val="bg1">
                  <a:lumMod val="50000"/>
                </a:schemeClr>
              </a:solidFill>
              <a:latin typeface="Trebuchet MS" panose="020B0603020202020204" pitchFamily="34" charset="0"/>
            </a:endParaRPr>
          </a:p>
          <a:p>
            <a:pPr marL="800100" lvl="1" indent="-342900" algn="l">
              <a:lnSpc>
                <a:spcPct val="120000"/>
              </a:lnSpc>
              <a:buFont typeface="Arial" panose="020B0604020202020204" pitchFamily="34" charset="0"/>
              <a:buChar char="•"/>
            </a:pPr>
            <a:r>
              <a:rPr lang="en-US" sz="2400" dirty="0">
                <a:solidFill>
                  <a:schemeClr val="bg1">
                    <a:lumMod val="50000"/>
                  </a:schemeClr>
                </a:solidFill>
                <a:latin typeface="Trebuchet MS" panose="020B0603020202020204" pitchFamily="34" charset="0"/>
                <a:sym typeface="+mn-ea"/>
              </a:rPr>
              <a:t>An optional callback function that is guaranteed to run after the state has been updated.</a:t>
            </a: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Event Handling</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Event handling is the process of capturing and responding to user interactions (events) that occur within a React component. These interactions can include clicking buttons, submitting forms, typing into input fields, hovering over elements, and many others.</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Event handling in React typically involves attaching event listeners to DOM elements rendered by React components. When an event is triggered, the associated event handler function is executed, allowing you to respond to the user's action and update the component's state or perform other actions accordingly.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2800" dirty="0">
                <a:solidFill>
                  <a:prstClr val="white">
                    <a:lumMod val="50000"/>
                  </a:prstClr>
                </a:solidFill>
                <a:latin typeface="Trebuchet MS" panose="020B0603020202020204" pitchFamily="34" charset="0"/>
              </a:rPr>
              <a:t>Binding Event Handlers in Class Components</a:t>
            </a:r>
            <a:endParaRPr lang="en-US" sz="28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class components, event handlers need to be explicitly bound to the component instance, typically in the constructor. This ensures that the correct instance of the component is used as the context (this) when the event is triggered.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200" dirty="0">
                <a:solidFill>
                  <a:schemeClr val="bg1">
                    <a:lumMod val="50000"/>
                  </a:schemeClr>
                </a:solidFill>
                <a:latin typeface="Trebuchet MS" panose="020B0603020202020204" pitchFamily="34" charset="0"/>
              </a:rPr>
              <a:t>Method as Props</a:t>
            </a:r>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5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sending a method as props to a child component allows you to establish communication between parent and child components. This pattern is often referred to as "lifting state up" in React. It enables the child component to interact with the parent component or notify the parent about certain events or changes.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200" dirty="0">
                <a:solidFill>
                  <a:schemeClr val="bg1">
                    <a:lumMod val="50000"/>
                  </a:schemeClr>
                </a:solidFill>
                <a:latin typeface="Trebuchet MS" panose="020B0603020202020204" pitchFamily="34" charset="0"/>
              </a:rPr>
              <a:t>Method as Props</a:t>
            </a:r>
          </a:p>
        </p:txBody>
      </p:sp>
      <p:sp>
        <p:nvSpPr>
          <p:cNvPr id="3" name="Subtitle 2"/>
          <p:cNvSpPr>
            <a:spLocks noGrp="1"/>
          </p:cNvSpPr>
          <p:nvPr>
            <p:ph type="subTitle" idx="1"/>
          </p:nvPr>
        </p:nvSpPr>
        <p:spPr>
          <a:xfrm>
            <a:off x="816087" y="1194619"/>
            <a:ext cx="11041626" cy="5058693"/>
          </a:xfrm>
        </p:spPr>
        <p:txBody>
          <a:bodyPr>
            <a:noAutofit/>
          </a:bodyPr>
          <a:lstStyle/>
          <a:p>
            <a:pPr marL="342900" lvl="0" indent="-342900" algn="l">
              <a:lnSpc>
                <a:spcPct val="150000"/>
              </a:lnSpc>
              <a:buFont typeface="Arial" panose="020B0604020202020204" pitchFamily="34" charset="0"/>
              <a:buChar char="•"/>
            </a:pPr>
            <a:r>
              <a:rPr lang="en-US" dirty="0">
                <a:solidFill>
                  <a:schemeClr val="bg1">
                    <a:lumMod val="50000"/>
                  </a:schemeClr>
                </a:solidFill>
                <a:latin typeface="Trebuchet MS" panose="020B0603020202020204" pitchFamily="34" charset="0"/>
              </a:rPr>
              <a:t>Here's how it works:</a:t>
            </a:r>
          </a:p>
          <a:p>
            <a:pPr marL="342900" lvl="0" indent="-342900" algn="l">
              <a:lnSpc>
                <a:spcPct val="15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Parent Component: The parent component contains the method you want to send to the child component. This method is typically responsible for handling some logic or state changes in the parent component.</a:t>
            </a:r>
          </a:p>
          <a:p>
            <a:pPr marL="342900" lvl="0" indent="-342900" algn="l">
              <a:lnSpc>
                <a:spcPct val="15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Child Component: The child component receives the method as a prop and can call it when specific actions occur or when it needs to communicate something back to the parent.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200" dirty="0">
                <a:solidFill>
                  <a:schemeClr val="bg1">
                    <a:lumMod val="50000"/>
                  </a:schemeClr>
                </a:solidFill>
                <a:latin typeface="Trebuchet MS" panose="020B0603020202020204" pitchFamily="34" charset="0"/>
              </a:rPr>
              <a:t>Method as Props</a:t>
            </a:r>
          </a:p>
        </p:txBody>
      </p:sp>
      <p:sp>
        <p:nvSpPr>
          <p:cNvPr id="3" name="Subtitle 2"/>
          <p:cNvSpPr>
            <a:spLocks noGrp="1"/>
          </p:cNvSpPr>
          <p:nvPr>
            <p:ph type="subTitle" idx="1"/>
          </p:nvPr>
        </p:nvSpPr>
        <p:spPr>
          <a:xfrm>
            <a:off x="816087" y="1194619"/>
            <a:ext cx="11041626" cy="5058693"/>
          </a:xfrm>
        </p:spPr>
        <p:txBody>
          <a:bodyPr>
            <a:noAutofit/>
          </a:bodyPr>
          <a:lstStyle/>
          <a:p>
            <a:pPr marL="342900" indent="-342900" algn="l">
              <a:lnSpc>
                <a:spcPct val="150000"/>
              </a:lnSpc>
              <a:buFont typeface="Arial" panose="020B0604020202020204" pitchFamily="34" charset="0"/>
              <a:buChar char="•"/>
            </a:pPr>
            <a:r>
              <a:rPr lang="en-US" dirty="0">
                <a:solidFill>
                  <a:schemeClr val="bg1">
                    <a:lumMod val="50000"/>
                  </a:schemeClr>
                </a:solidFill>
                <a:latin typeface="Trebuchet MS" panose="020B0603020202020204" pitchFamily="34" charset="0"/>
              </a:rPr>
              <a:t>By sending the method as a prop to the child component, you achieve better separation of concerns and encapsulation. The child component doesn't need to know the internal implementation details of the parent component, and it can still trigger specific actions in the parent.</a:t>
            </a:r>
          </a:p>
          <a:p>
            <a:pPr marL="342900" lvl="0" indent="-342900" algn="l">
              <a:lnSpc>
                <a:spcPct val="15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Hooks</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hooks are a set of functions that allow functional components to access and use state and other React features without the need for class components. Hooks were introduced in React 16.8 and have become the recommended way of working with state and lifecycle methods in React.</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Hooks provide a way to reuse stateful logic across components, making them more concise and easier to understand. They also help to separate concerns and reduce the complexity of components by allowing them to focus on presentation and rendering.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Hooks</a:t>
            </a:r>
            <a:endParaRPr lang="en-US" sz="3600" dirty="0"/>
          </a:p>
        </p:txBody>
      </p:sp>
      <p:sp>
        <p:nvSpPr>
          <p:cNvPr id="3" name="Subtitle 2"/>
          <p:cNvSpPr>
            <a:spLocks noGrp="1"/>
          </p:cNvSpPr>
          <p:nvPr>
            <p:ph type="subTitle" idx="1"/>
          </p:nvPr>
        </p:nvSpPr>
        <p:spPr>
          <a:xfrm>
            <a:off x="816087" y="1194619"/>
            <a:ext cx="11041626" cy="5058693"/>
          </a:xfrm>
        </p:spPr>
        <p:txBody>
          <a:bodyPr>
            <a:normAutofit lnSpcReduction="10000"/>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Some of the commonly used hooks in React include:</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This hook allows functional components to add and manage state in a simple manner. It provides a way to declare and update state variables in functional components.</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useEffect</a:t>
            </a:r>
            <a:r>
              <a:rPr lang="en-US" dirty="0">
                <a:solidFill>
                  <a:schemeClr val="bg1">
                    <a:lumMod val="50000"/>
                  </a:schemeClr>
                </a:solidFill>
                <a:latin typeface="Trebuchet MS" panose="020B0603020202020204" pitchFamily="34" charset="0"/>
              </a:rPr>
              <a:t>: This hook lets functional components perform side effects, such as fetching data, setting up subscriptions, or manually interacting with the DOM. It replaces lifecycle methods like </a:t>
            </a:r>
            <a:r>
              <a:rPr lang="en-US" dirty="0" err="1">
                <a:solidFill>
                  <a:schemeClr val="bg1">
                    <a:lumMod val="50000"/>
                  </a:schemeClr>
                </a:solidFill>
                <a:latin typeface="Trebuchet MS" panose="020B0603020202020204" pitchFamily="34" charset="0"/>
              </a:rPr>
              <a:t>componentDidMount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componentDidUpdate</a:t>
            </a:r>
            <a:r>
              <a:rPr lang="en-US" dirty="0">
                <a:solidFill>
                  <a:schemeClr val="bg1">
                    <a:lumMod val="50000"/>
                  </a:schemeClr>
                </a:solidFill>
                <a:latin typeface="Trebuchet MS" panose="020B0603020202020204" pitchFamily="34" charset="0"/>
              </a:rPr>
              <a:t>, and </a:t>
            </a:r>
            <a:r>
              <a:rPr lang="en-US" dirty="0" err="1">
                <a:solidFill>
                  <a:schemeClr val="bg1">
                    <a:lumMod val="50000"/>
                  </a:schemeClr>
                </a:solidFill>
                <a:latin typeface="Trebuchet MS" panose="020B0603020202020204" pitchFamily="34" charset="0"/>
              </a:rPr>
              <a:t>componentWillUnmount</a:t>
            </a:r>
            <a:r>
              <a:rPr lang="en-US" dirty="0">
                <a:solidFill>
                  <a:schemeClr val="bg1">
                    <a:lumMod val="50000"/>
                  </a:schemeClr>
                </a:solidFill>
                <a:latin typeface="Trebuchet MS" panose="020B0603020202020204" pitchFamily="34" charset="0"/>
              </a:rPr>
              <a:t>.</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useContext</a:t>
            </a:r>
            <a:r>
              <a:rPr lang="en-US" dirty="0">
                <a:solidFill>
                  <a:schemeClr val="bg1">
                    <a:lumMod val="50000"/>
                  </a:schemeClr>
                </a:solidFill>
                <a:latin typeface="Trebuchet MS" panose="020B0603020202020204" pitchFamily="34" charset="0"/>
              </a:rPr>
              <a:t>: This hook enables functional components to consume data from a React context, providing a more straightforward way to access global state without prop drilling.</a:t>
            </a:r>
          </a:p>
          <a:p>
            <a:pPr marL="342900" lvl="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Hooks</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useReducer</a:t>
            </a:r>
            <a:r>
              <a:rPr lang="en-US" dirty="0">
                <a:solidFill>
                  <a:schemeClr val="bg1">
                    <a:lumMod val="50000"/>
                  </a:schemeClr>
                </a:solidFill>
                <a:latin typeface="Trebuchet MS" panose="020B0603020202020204" pitchFamily="34" charset="0"/>
              </a:rPr>
              <a:t>: This hook is an alternative to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for managing more complex state logic. It uses a reducer function to update state based on actions.</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useCallback</a:t>
            </a:r>
            <a:r>
              <a:rPr lang="en-US" dirty="0">
                <a:solidFill>
                  <a:schemeClr val="bg1">
                    <a:lumMod val="50000"/>
                  </a:schemeClr>
                </a:solidFill>
                <a:latin typeface="Trebuchet MS" panose="020B0603020202020204" pitchFamily="34" charset="0"/>
              </a:rPr>
              <a:t>: This hook helps to optimize performance by </a:t>
            </a:r>
            <a:r>
              <a:rPr lang="en-US" dirty="0" err="1">
                <a:solidFill>
                  <a:schemeClr val="bg1">
                    <a:lumMod val="50000"/>
                  </a:schemeClr>
                </a:solidFill>
                <a:latin typeface="Trebuchet MS" panose="020B0603020202020204" pitchFamily="34" charset="0"/>
              </a:rPr>
              <a:t>memoizing</a:t>
            </a:r>
            <a:r>
              <a:rPr lang="en-US" dirty="0">
                <a:solidFill>
                  <a:schemeClr val="bg1">
                    <a:lumMod val="50000"/>
                  </a:schemeClr>
                </a:solidFill>
                <a:latin typeface="Trebuchet MS" panose="020B0603020202020204" pitchFamily="34" charset="0"/>
              </a:rPr>
              <a:t> callback functions and preventing unnecessary re-renders.</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useMemo</a:t>
            </a:r>
            <a:r>
              <a:rPr lang="en-US" dirty="0">
                <a:solidFill>
                  <a:schemeClr val="bg1">
                    <a:lumMod val="50000"/>
                  </a:schemeClr>
                </a:solidFill>
                <a:latin typeface="Trebuchet MS" panose="020B0603020202020204" pitchFamily="34" charset="0"/>
              </a:rPr>
              <a:t>: This hook is used to </a:t>
            </a:r>
            <a:r>
              <a:rPr lang="en-US" dirty="0" err="1">
                <a:solidFill>
                  <a:schemeClr val="bg1">
                    <a:lumMod val="50000"/>
                  </a:schemeClr>
                </a:solidFill>
                <a:latin typeface="Trebuchet MS" panose="020B0603020202020204" pitchFamily="34" charset="0"/>
              </a:rPr>
              <a:t>memoize</a:t>
            </a:r>
            <a:r>
              <a:rPr lang="en-US" dirty="0">
                <a:solidFill>
                  <a:schemeClr val="bg1">
                    <a:lumMod val="50000"/>
                  </a:schemeClr>
                </a:solidFill>
                <a:latin typeface="Trebuchet MS" panose="020B0603020202020204" pitchFamily="34" charset="0"/>
              </a:rPr>
              <a:t> the result of a function call and cache it, which can improve performance in certain scenarios.</a:t>
            </a:r>
          </a:p>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This hook provides a way to create a mutable reference that persists across renders. It is commonly used to access DOM elements or store values that won't trigger re-renders.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What is Hooks</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Using hooks, functional components can now handle state and lifecycle-related functionalities, making them more powerful and eliminating the need for class components in most cases.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is a built-in React hook that allows you to add stateful behavior to functional components in React.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Prior to hooks, stateful behavior was only possible in class components. However, with the introduction of hooks in React 16.8, you can now use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to manage state in functional components, making them more concise and easier to understand.</a:t>
            </a:r>
          </a:p>
          <a:p>
            <a:pPr marL="34290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hook is used to declare a state variable and a function to update that variable within a functional component.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state variable: This holds the current state value.</a:t>
            </a:r>
          </a:p>
          <a:p>
            <a:pPr marL="342900" lvl="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state updater function: This function is used to update the state variable, triggering a re-render of the component.</a:t>
            </a:r>
          </a:p>
          <a:p>
            <a:pPr marL="800100" lvl="1"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Syntax:</a:t>
            </a:r>
          </a:p>
          <a:p>
            <a:pPr marL="1257300" lvl="2"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const [state, </a:t>
            </a:r>
            <a:r>
              <a:rPr lang="en-US" dirty="0" err="1">
                <a:solidFill>
                  <a:schemeClr val="bg1">
                    <a:lumMod val="50000"/>
                  </a:schemeClr>
                </a:solidFill>
                <a:latin typeface="Trebuchet MS" panose="020B0603020202020204" pitchFamily="34" charset="0"/>
              </a:rPr>
              <a:t>setState</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a:t>
            </a:r>
            <a:r>
              <a:rPr lang="en-US" dirty="0" err="1">
                <a:solidFill>
                  <a:schemeClr val="bg1">
                    <a:lumMod val="50000"/>
                  </a:schemeClr>
                </a:solidFill>
                <a:latin typeface="Trebuchet MS" panose="020B0603020202020204" pitchFamily="34" charset="0"/>
              </a:rPr>
              <a:t>initialState</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import React,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 from 'react’;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Declare and initialize state in your functional component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 () =&gt; {</a:t>
            </a:r>
          </a:p>
          <a:p>
            <a:pPr algn="l">
              <a:lnSpc>
                <a:spcPct val="120000"/>
              </a:lnSpc>
            </a:pPr>
            <a:r>
              <a:rPr lang="en-US" dirty="0">
                <a:solidFill>
                  <a:schemeClr val="bg1">
                    <a:lumMod val="50000"/>
                  </a:schemeClr>
                </a:solidFill>
                <a:latin typeface="Trebuchet MS" panose="020B0603020202020204" pitchFamily="34" charset="0"/>
              </a:rPr>
              <a:t>  // Declare and initialize the state variable 'count' with an initial value of 0</a:t>
            </a:r>
          </a:p>
          <a:p>
            <a:pPr algn="l">
              <a:lnSpc>
                <a:spcPct val="120000"/>
              </a:lnSpc>
            </a:pPr>
            <a:r>
              <a:rPr lang="en-US" dirty="0">
                <a:solidFill>
                  <a:schemeClr val="bg1">
                    <a:lumMod val="50000"/>
                  </a:schemeClr>
                </a:solidFill>
                <a:latin typeface="Trebuchet MS" panose="020B0603020202020204" pitchFamily="34" charset="0"/>
              </a:rPr>
              <a:t>  const [count, </a:t>
            </a:r>
            <a:r>
              <a:rPr lang="en-US" dirty="0" err="1">
                <a:solidFill>
                  <a:schemeClr val="bg1">
                    <a:lumMod val="50000"/>
                  </a:schemeClr>
                </a:solidFill>
                <a:latin typeface="Trebuchet MS" panose="020B0603020202020204" pitchFamily="34" charset="0"/>
              </a:rPr>
              <a:t>setCount</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(0);</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r>
              <a:rPr lang="en-US" dirty="0">
                <a:solidFill>
                  <a:schemeClr val="bg1">
                    <a:lumMod val="50000"/>
                  </a:schemeClr>
                </a:solidFill>
                <a:latin typeface="Trebuchet MS" panose="020B0603020202020204" pitchFamily="34" charset="0"/>
              </a:rPr>
              <a:t>  // ... rest of the component logic ...</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useState</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Use the state variable and the state updater function in your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When the </a:t>
            </a:r>
            <a:r>
              <a:rPr lang="en-US" dirty="0" err="1">
                <a:solidFill>
                  <a:schemeClr val="bg1">
                    <a:lumMod val="50000"/>
                  </a:schemeClr>
                </a:solidFill>
                <a:latin typeface="Trebuchet MS" panose="020B0603020202020204" pitchFamily="34" charset="0"/>
              </a:rPr>
              <a:t>setCount</a:t>
            </a:r>
            <a:r>
              <a:rPr lang="en-US" dirty="0">
                <a:solidFill>
                  <a:schemeClr val="bg1">
                    <a:lumMod val="50000"/>
                  </a:schemeClr>
                </a:solidFill>
                <a:latin typeface="Trebuchet MS" panose="020B0603020202020204" pitchFamily="34" charset="0"/>
              </a:rPr>
              <a:t> function is called, it updates the count state, triggering a re-render of the component, and displaying the updated state value.</a:t>
            </a:r>
          </a:p>
          <a:p>
            <a:pPr marL="342900" indent="-342900" algn="l">
              <a:lnSpc>
                <a:spcPct val="120000"/>
              </a:lnSpc>
              <a:buFont typeface="Arial" panose="020B0604020202020204" pitchFamily="34" charset="0"/>
              <a:buChar char="•"/>
            </a:pP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hook is versatile and can be used to manage more complex state data, such as objects or arrays. For example:</a:t>
            </a:r>
          </a:p>
          <a:p>
            <a:pPr lvl="1" algn="l">
              <a:lnSpc>
                <a:spcPct val="120000"/>
              </a:lnSpc>
            </a:pPr>
            <a:endParaRPr lang="en-US" dirty="0">
              <a:solidFill>
                <a:schemeClr val="bg1">
                  <a:lumMod val="50000"/>
                </a:schemeClr>
              </a:solidFill>
              <a:latin typeface="Trebuchet MS" panose="020B0603020202020204" pitchFamily="34" charset="0"/>
            </a:endParaRPr>
          </a:p>
          <a:p>
            <a:pPr lvl="1" algn="l">
              <a:lnSpc>
                <a:spcPct val="120000"/>
              </a:lnSpc>
            </a:pPr>
            <a:r>
              <a:rPr lang="en-US" dirty="0">
                <a:solidFill>
                  <a:schemeClr val="bg1">
                    <a:lumMod val="50000"/>
                  </a:schemeClr>
                </a:solidFill>
                <a:latin typeface="Trebuchet MS" panose="020B0603020202020204" pitchFamily="34" charset="0"/>
              </a:rPr>
              <a:t>const [person, </a:t>
            </a:r>
            <a:r>
              <a:rPr lang="en-US" dirty="0" err="1">
                <a:solidFill>
                  <a:schemeClr val="bg1">
                    <a:lumMod val="50000"/>
                  </a:schemeClr>
                </a:solidFill>
                <a:latin typeface="Trebuchet MS" panose="020B0603020202020204" pitchFamily="34" charset="0"/>
              </a:rPr>
              <a:t>setPerson</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name: 'John', age: 30 });</a:t>
            </a:r>
          </a:p>
          <a:p>
            <a:pPr lvl="1" algn="l">
              <a:lnSpc>
                <a:spcPct val="120000"/>
              </a:lnSpc>
            </a:pPr>
            <a:endParaRPr lang="en-US" dirty="0">
              <a:solidFill>
                <a:schemeClr val="bg1">
                  <a:lumMod val="50000"/>
                </a:schemeClr>
              </a:solidFill>
              <a:latin typeface="Trebuchet MS" panose="020B0603020202020204" pitchFamily="34" charset="0"/>
            </a:endParaRPr>
          </a:p>
          <a:p>
            <a:pPr lvl="1"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todos</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setTodos</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&lt;string[]&gt;(['Task 1', 'Task 2']);</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useEffect</a:t>
            </a:r>
            <a:endParaRPr lang="en-US" sz="3600" dirty="0"/>
          </a:p>
        </p:txBody>
      </p:sp>
      <p:sp>
        <p:nvSpPr>
          <p:cNvPr id="3" name="Subtitle 2"/>
          <p:cNvSpPr>
            <a:spLocks noGrp="1"/>
          </p:cNvSpPr>
          <p:nvPr>
            <p:ph type="subTitle" idx="1"/>
          </p:nvPr>
        </p:nvSpPr>
        <p:spPr>
          <a:xfrm>
            <a:off x="816087" y="1194619"/>
            <a:ext cx="11041626" cy="5058693"/>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the </a:t>
            </a:r>
            <a:r>
              <a:rPr lang="en-US" dirty="0" err="1">
                <a:solidFill>
                  <a:schemeClr val="bg1">
                    <a:lumMod val="50000"/>
                  </a:schemeClr>
                </a:solidFill>
                <a:latin typeface="Trebuchet MS" panose="020B0603020202020204" pitchFamily="34" charset="0"/>
              </a:rPr>
              <a:t>useEffect</a:t>
            </a:r>
            <a:r>
              <a:rPr lang="en-US" dirty="0">
                <a:solidFill>
                  <a:schemeClr val="bg1">
                    <a:lumMod val="50000"/>
                  </a:schemeClr>
                </a:solidFill>
                <a:latin typeface="Trebuchet MS" panose="020B0603020202020204" pitchFamily="34" charset="0"/>
              </a:rPr>
              <a:t> hook is used to handle side effects in functional components means Touches things outside the component (e.g., network, DOM, storage). Doesn’t directly help return JSX/UI.</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 Side effects are operations that occur outside the regular render cycle, such as data fetching, subscriptions, or manually interacting with the DOM.</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a:t>
            </a:r>
            <a:r>
              <a:rPr lang="en-US" dirty="0" err="1">
                <a:solidFill>
                  <a:schemeClr val="bg1">
                    <a:lumMod val="50000"/>
                  </a:schemeClr>
                </a:solidFill>
                <a:latin typeface="Trebuchet MS" panose="020B0603020202020204" pitchFamily="34" charset="0"/>
              </a:rPr>
              <a:t>useEffect</a:t>
            </a:r>
            <a:r>
              <a:rPr lang="en-US" dirty="0">
                <a:solidFill>
                  <a:schemeClr val="bg1">
                    <a:lumMod val="50000"/>
                  </a:schemeClr>
                </a:solidFill>
                <a:latin typeface="Trebuchet MS" panose="020B0603020202020204" pitchFamily="34" charset="0"/>
              </a:rPr>
              <a:t> hook allows you to perform these side effects in a declarative and concise manner. It is a replacement for the lifecycle methods like </a:t>
            </a:r>
            <a:r>
              <a:rPr lang="en-US" dirty="0" err="1">
                <a:solidFill>
                  <a:schemeClr val="bg1">
                    <a:lumMod val="50000"/>
                  </a:schemeClr>
                </a:solidFill>
                <a:latin typeface="Trebuchet MS" panose="020B0603020202020204" pitchFamily="34" charset="0"/>
              </a:rPr>
              <a:t>componentDidMount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componentDidUpdate</a:t>
            </a:r>
            <a:r>
              <a:rPr lang="en-US" dirty="0">
                <a:solidFill>
                  <a:schemeClr val="bg1">
                    <a:lumMod val="50000"/>
                  </a:schemeClr>
                </a:solidFill>
                <a:latin typeface="Trebuchet MS" panose="020B0603020202020204" pitchFamily="34" charset="0"/>
              </a:rPr>
              <a:t>, and </a:t>
            </a:r>
            <a:r>
              <a:rPr lang="en-US" dirty="0" err="1">
                <a:solidFill>
                  <a:schemeClr val="bg1">
                    <a:lumMod val="50000"/>
                  </a:schemeClr>
                </a:solidFill>
                <a:latin typeface="Trebuchet MS" panose="020B0603020202020204" pitchFamily="34" charset="0"/>
              </a:rPr>
              <a:t>componentWillUnmount</a:t>
            </a:r>
            <a:r>
              <a:rPr lang="en-US" dirty="0">
                <a:solidFill>
                  <a:schemeClr val="bg1">
                    <a:lumMod val="50000"/>
                  </a:schemeClr>
                </a:solidFill>
                <a:latin typeface="Trebuchet MS" panose="020B0603020202020204" pitchFamily="34" charset="0"/>
              </a:rPr>
              <a:t> in class components.</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useEffect</a:t>
            </a:r>
            <a:endParaRPr lang="en-US" sz="3600" dirty="0"/>
          </a:p>
        </p:txBody>
      </p:sp>
      <p:sp>
        <p:nvSpPr>
          <p:cNvPr id="3" name="Subtitle 2"/>
          <p:cNvSpPr>
            <a:spLocks noGrp="1"/>
          </p:cNvSpPr>
          <p:nvPr>
            <p:ph type="subTitle" idx="1"/>
          </p:nvPr>
        </p:nvSpPr>
        <p:spPr>
          <a:xfrm>
            <a:off x="816087" y="1194619"/>
            <a:ext cx="11041626" cy="5278437"/>
          </a:xfrm>
        </p:spPr>
        <p:txBody>
          <a:bodyPr>
            <a:normAutofit fontScale="55000" lnSpcReduction="20000"/>
          </a:bodyPr>
          <a:lstStyle/>
          <a:p>
            <a:pPr algn="l">
              <a:lnSpc>
                <a:spcPct val="120000"/>
              </a:lnSpc>
            </a:pPr>
            <a:r>
              <a:rPr lang="en-US" sz="2500" dirty="0">
                <a:solidFill>
                  <a:schemeClr val="bg1">
                    <a:lumMod val="50000"/>
                  </a:schemeClr>
                </a:solidFill>
                <a:latin typeface="Trebuchet MS" panose="020B0603020202020204" pitchFamily="34" charset="0"/>
              </a:rPr>
              <a:t>The basic syntax of </a:t>
            </a:r>
            <a:r>
              <a:rPr lang="en-US" sz="2500" dirty="0" err="1">
                <a:solidFill>
                  <a:schemeClr val="bg1">
                    <a:lumMod val="50000"/>
                  </a:schemeClr>
                </a:solidFill>
                <a:latin typeface="Trebuchet MS" panose="020B0603020202020204" pitchFamily="34" charset="0"/>
              </a:rPr>
              <a:t>useEffect</a:t>
            </a:r>
            <a:r>
              <a:rPr lang="en-US" sz="2500" dirty="0">
                <a:solidFill>
                  <a:schemeClr val="bg1">
                    <a:lumMod val="50000"/>
                  </a:schemeClr>
                </a:solidFill>
                <a:latin typeface="Trebuchet MS" panose="020B0603020202020204" pitchFamily="34" charset="0"/>
              </a:rPr>
              <a:t> is as follows:</a:t>
            </a:r>
          </a:p>
          <a:p>
            <a:pPr algn="l">
              <a:lnSpc>
                <a:spcPct val="120000"/>
              </a:lnSpc>
            </a:pPr>
            <a:r>
              <a:rPr lang="en-US" sz="2500" dirty="0">
                <a:solidFill>
                  <a:schemeClr val="bg1">
                    <a:lumMod val="50000"/>
                  </a:schemeClr>
                </a:solidFill>
                <a:latin typeface="Trebuchet MS" panose="020B0603020202020204" pitchFamily="34" charset="0"/>
              </a:rPr>
              <a:t>import React, { </a:t>
            </a:r>
            <a:r>
              <a:rPr lang="en-US" sz="2500" dirty="0" err="1">
                <a:solidFill>
                  <a:schemeClr val="bg1">
                    <a:lumMod val="50000"/>
                  </a:schemeClr>
                </a:solidFill>
                <a:latin typeface="Trebuchet MS" panose="020B0603020202020204" pitchFamily="34" charset="0"/>
              </a:rPr>
              <a:t>useEffect</a:t>
            </a:r>
            <a:r>
              <a:rPr lang="en-US" sz="2500" dirty="0">
                <a:solidFill>
                  <a:schemeClr val="bg1">
                    <a:lumMod val="50000"/>
                  </a:schemeClr>
                </a:solidFill>
                <a:latin typeface="Trebuchet MS" panose="020B0603020202020204" pitchFamily="34" charset="0"/>
              </a:rPr>
              <a:t> } from 'react';</a:t>
            </a:r>
          </a:p>
          <a:p>
            <a:pPr algn="l">
              <a:lnSpc>
                <a:spcPct val="120000"/>
              </a:lnSpc>
            </a:pPr>
            <a:r>
              <a:rPr lang="en-US" sz="2500" dirty="0">
                <a:solidFill>
                  <a:schemeClr val="bg1">
                    <a:lumMod val="50000"/>
                  </a:schemeClr>
                </a:solidFill>
                <a:latin typeface="Trebuchet MS" panose="020B0603020202020204" pitchFamily="34" charset="0"/>
              </a:rPr>
              <a:t>const </a:t>
            </a:r>
            <a:r>
              <a:rPr lang="en-US" sz="2500" dirty="0" err="1">
                <a:solidFill>
                  <a:schemeClr val="bg1">
                    <a:lumMod val="50000"/>
                  </a:schemeClr>
                </a:solidFill>
                <a:latin typeface="Trebuchet MS" panose="020B0603020202020204" pitchFamily="34" charset="0"/>
              </a:rPr>
              <a:t>MyComponent</a:t>
            </a:r>
            <a:r>
              <a:rPr lang="en-US" sz="2500" dirty="0">
                <a:solidFill>
                  <a:schemeClr val="bg1">
                    <a:lumMod val="50000"/>
                  </a:schemeClr>
                </a:solidFill>
                <a:latin typeface="Trebuchet MS" panose="020B0603020202020204" pitchFamily="34" charset="0"/>
              </a:rPr>
              <a:t>: </a:t>
            </a:r>
            <a:r>
              <a:rPr lang="en-US" sz="2500" dirty="0" err="1">
                <a:solidFill>
                  <a:schemeClr val="bg1">
                    <a:lumMod val="50000"/>
                  </a:schemeClr>
                </a:solidFill>
                <a:latin typeface="Trebuchet MS" panose="020B0603020202020204" pitchFamily="34" charset="0"/>
              </a:rPr>
              <a:t>React.FC</a:t>
            </a:r>
            <a:r>
              <a:rPr lang="en-US" sz="2500" dirty="0">
                <a:solidFill>
                  <a:schemeClr val="bg1">
                    <a:lumMod val="50000"/>
                  </a:schemeClr>
                </a:solidFill>
                <a:latin typeface="Trebuchet MS" panose="020B0603020202020204" pitchFamily="34" charset="0"/>
              </a:rPr>
              <a:t> = () =&gt; {</a:t>
            </a:r>
          </a:p>
          <a:p>
            <a:pPr algn="l">
              <a:lnSpc>
                <a:spcPct val="120000"/>
              </a:lnSpc>
            </a:pPr>
            <a:r>
              <a:rPr lang="en-US" sz="2500" dirty="0">
                <a:solidFill>
                  <a:schemeClr val="bg1">
                    <a:lumMod val="50000"/>
                  </a:schemeClr>
                </a:solidFill>
                <a:latin typeface="Trebuchet MS" panose="020B0603020202020204" pitchFamily="34" charset="0"/>
              </a:rPr>
              <a:t>  </a:t>
            </a:r>
            <a:r>
              <a:rPr lang="en-US" sz="2500" dirty="0" err="1">
                <a:solidFill>
                  <a:schemeClr val="bg1">
                    <a:lumMod val="50000"/>
                  </a:schemeClr>
                </a:solidFill>
                <a:latin typeface="Trebuchet MS" panose="020B0603020202020204" pitchFamily="34" charset="0"/>
              </a:rPr>
              <a:t>useEffect</a:t>
            </a:r>
            <a:r>
              <a:rPr lang="en-US" sz="2500" dirty="0">
                <a:solidFill>
                  <a:schemeClr val="bg1">
                    <a:lumMod val="50000"/>
                  </a:schemeClr>
                </a:solidFill>
                <a:latin typeface="Trebuchet MS" panose="020B0603020202020204" pitchFamily="34" charset="0"/>
              </a:rPr>
              <a:t>(() =&gt; {</a:t>
            </a:r>
          </a:p>
          <a:p>
            <a:pPr algn="l">
              <a:lnSpc>
                <a:spcPct val="120000"/>
              </a:lnSpc>
            </a:pPr>
            <a:r>
              <a:rPr lang="en-US" sz="2500" dirty="0">
                <a:solidFill>
                  <a:schemeClr val="bg1">
                    <a:lumMod val="50000"/>
                  </a:schemeClr>
                </a:solidFill>
                <a:latin typeface="Trebuchet MS" panose="020B0603020202020204" pitchFamily="34" charset="0"/>
              </a:rPr>
              <a:t>    // Side effect code here</a:t>
            </a:r>
          </a:p>
          <a:p>
            <a:pPr algn="l">
              <a:lnSpc>
                <a:spcPct val="120000"/>
              </a:lnSpc>
            </a:pPr>
            <a:r>
              <a:rPr lang="en-US" sz="2500" dirty="0">
                <a:solidFill>
                  <a:schemeClr val="bg1">
                    <a:lumMod val="50000"/>
                  </a:schemeClr>
                </a:solidFill>
                <a:latin typeface="Trebuchet MS" panose="020B0603020202020204" pitchFamily="34" charset="0"/>
              </a:rPr>
              <a:t>    // This function will run after the component is mounted and after every render</a:t>
            </a:r>
          </a:p>
          <a:p>
            <a:pPr algn="l">
              <a:lnSpc>
                <a:spcPct val="120000"/>
              </a:lnSpc>
            </a:pPr>
            <a:r>
              <a:rPr lang="en-US" sz="2500" dirty="0">
                <a:solidFill>
                  <a:schemeClr val="bg1">
                    <a:lumMod val="50000"/>
                  </a:schemeClr>
                </a:solidFill>
                <a:latin typeface="Trebuchet MS" panose="020B0603020202020204" pitchFamily="34" charset="0"/>
              </a:rPr>
              <a:t>    // You can perform data fetching, subscriptions, DOM interactions, etc. here</a:t>
            </a:r>
          </a:p>
          <a:p>
            <a:pPr algn="l">
              <a:lnSpc>
                <a:spcPct val="120000"/>
              </a:lnSpc>
            </a:pPr>
            <a:r>
              <a:rPr lang="en-US" sz="2500" dirty="0">
                <a:solidFill>
                  <a:schemeClr val="bg1">
                    <a:lumMod val="50000"/>
                  </a:schemeClr>
                </a:solidFill>
                <a:latin typeface="Trebuchet MS" panose="020B0603020202020204" pitchFamily="34" charset="0"/>
              </a:rPr>
              <a:t>    return () =&gt; {</a:t>
            </a:r>
          </a:p>
          <a:p>
            <a:pPr algn="l">
              <a:lnSpc>
                <a:spcPct val="120000"/>
              </a:lnSpc>
            </a:pPr>
            <a:r>
              <a:rPr lang="en-US" sz="2500" dirty="0">
                <a:solidFill>
                  <a:schemeClr val="bg1">
                    <a:lumMod val="50000"/>
                  </a:schemeClr>
                </a:solidFill>
                <a:latin typeface="Trebuchet MS" panose="020B0603020202020204" pitchFamily="34" charset="0"/>
              </a:rPr>
              <a:t>      // Cleanup function (optional)</a:t>
            </a:r>
          </a:p>
          <a:p>
            <a:pPr algn="l">
              <a:lnSpc>
                <a:spcPct val="120000"/>
              </a:lnSpc>
            </a:pPr>
            <a:r>
              <a:rPr lang="en-US" sz="2500" dirty="0">
                <a:solidFill>
                  <a:schemeClr val="bg1">
                    <a:lumMod val="50000"/>
                  </a:schemeClr>
                </a:solidFill>
                <a:latin typeface="Trebuchet MS" panose="020B0603020202020204" pitchFamily="34" charset="0"/>
              </a:rPr>
              <a:t>      // This function will run before the component is unmounted and before the effect runs again (if dependencies are specified)</a:t>
            </a:r>
          </a:p>
          <a:p>
            <a:pPr algn="l">
              <a:lnSpc>
                <a:spcPct val="120000"/>
              </a:lnSpc>
            </a:pPr>
            <a:r>
              <a:rPr lang="en-US" sz="2500" dirty="0">
                <a:solidFill>
                  <a:schemeClr val="bg1">
                    <a:lumMod val="50000"/>
                  </a:schemeClr>
                </a:solidFill>
                <a:latin typeface="Trebuchet MS" panose="020B0603020202020204" pitchFamily="34" charset="0"/>
              </a:rPr>
              <a:t>      // You can perform cleanup of resources like subscriptions here</a:t>
            </a:r>
          </a:p>
          <a:p>
            <a:pPr algn="l">
              <a:lnSpc>
                <a:spcPct val="120000"/>
              </a:lnSpc>
            </a:pPr>
            <a:r>
              <a:rPr lang="en-US" sz="2500" dirty="0">
                <a:solidFill>
                  <a:schemeClr val="bg1">
                    <a:lumMod val="50000"/>
                  </a:schemeClr>
                </a:solidFill>
                <a:latin typeface="Trebuchet MS" panose="020B0603020202020204" pitchFamily="34" charset="0"/>
              </a:rPr>
              <a:t>    };</a:t>
            </a:r>
          </a:p>
          <a:p>
            <a:pPr algn="l">
              <a:lnSpc>
                <a:spcPct val="120000"/>
              </a:lnSpc>
            </a:pPr>
            <a:r>
              <a:rPr lang="en-US" sz="2500" dirty="0">
                <a:solidFill>
                  <a:schemeClr val="bg1">
                    <a:lumMod val="50000"/>
                  </a:schemeClr>
                </a:solidFill>
                <a:latin typeface="Trebuchet MS" panose="020B0603020202020204" pitchFamily="34" charset="0"/>
              </a:rPr>
              <a:t>  }, [/* dependencies */]);</a:t>
            </a:r>
          </a:p>
          <a:p>
            <a:pPr algn="l">
              <a:lnSpc>
                <a:spcPct val="120000"/>
              </a:lnSpc>
            </a:pPr>
            <a:r>
              <a:rPr lang="en-US" sz="2500" dirty="0">
                <a:solidFill>
                  <a:schemeClr val="bg1">
                    <a:lumMod val="50000"/>
                  </a:schemeClr>
                </a:solidFill>
                <a:latin typeface="Trebuchet MS" panose="020B0603020202020204" pitchFamily="34" charset="0"/>
              </a:rPr>
              <a:t>  // Rest of the component code</a:t>
            </a:r>
          </a:p>
          <a:p>
            <a:pPr algn="l">
              <a:lnSpc>
                <a:spcPct val="120000"/>
              </a:lnSpc>
            </a:pPr>
            <a:r>
              <a:rPr lang="en-US" sz="2500" dirty="0">
                <a:solidFill>
                  <a:schemeClr val="bg1">
                    <a:lumMod val="50000"/>
                  </a:schemeClr>
                </a:solidFill>
                <a:latin typeface="Trebuchet MS" panose="020B0603020202020204" pitchFamily="34" charset="0"/>
              </a:rPr>
              <a:t>};</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useEffect</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algn="l">
              <a:lnSpc>
                <a:spcPct val="120000"/>
              </a:lnSpc>
            </a:pPr>
            <a:r>
              <a:rPr lang="en-US" dirty="0" err="1">
                <a:solidFill>
                  <a:schemeClr val="bg1">
                    <a:lumMod val="50000"/>
                  </a:schemeClr>
                </a:solidFill>
                <a:latin typeface="Trebuchet MS" panose="020B0603020202020204" pitchFamily="34" charset="0"/>
              </a:rPr>
              <a:t>useEffect</a:t>
            </a:r>
            <a:r>
              <a:rPr lang="en-US" dirty="0">
                <a:solidFill>
                  <a:schemeClr val="bg1">
                    <a:lumMod val="50000"/>
                  </a:schemeClr>
                </a:solidFill>
                <a:latin typeface="Trebuchet MS" panose="020B0603020202020204" pitchFamily="34" charset="0"/>
              </a:rPr>
              <a:t>(() =&gt; {</a:t>
            </a:r>
          </a:p>
          <a:p>
            <a:pPr algn="l">
              <a:lnSpc>
                <a:spcPct val="120000"/>
              </a:lnSpc>
            </a:pPr>
            <a:r>
              <a:rPr lang="en-US" dirty="0">
                <a:solidFill>
                  <a:schemeClr val="bg1">
                    <a:lumMod val="50000"/>
                  </a:schemeClr>
                </a:solidFill>
                <a:latin typeface="Trebuchet MS" panose="020B0603020202020204" pitchFamily="34" charset="0"/>
              </a:rPr>
              <a:t>  // Side effect logic goes here</a:t>
            </a:r>
          </a:p>
          <a:p>
            <a:pPr algn="l">
              <a:lnSpc>
                <a:spcPct val="120000"/>
              </a:lnSpc>
            </a:pPr>
            <a:r>
              <a:rPr lang="en-US" dirty="0">
                <a:solidFill>
                  <a:schemeClr val="bg1">
                    <a:lumMod val="50000"/>
                  </a:schemeClr>
                </a:solidFill>
                <a:latin typeface="Trebuchet MS" panose="020B0603020202020204" pitchFamily="34" charset="0"/>
              </a:rPr>
              <a:t>  // It will run after every render</a:t>
            </a:r>
          </a:p>
          <a:p>
            <a:pPr algn="l">
              <a:lnSpc>
                <a:spcPct val="120000"/>
              </a:lnSpc>
            </a:pPr>
            <a:r>
              <a:rPr lang="en-US" dirty="0">
                <a:solidFill>
                  <a:schemeClr val="bg1">
                    <a:lumMod val="50000"/>
                  </a:schemeClr>
                </a:solidFill>
                <a:latin typeface="Trebuchet MS" panose="020B0603020202020204" pitchFamily="34" charset="0"/>
              </a:rPr>
              <a:t>  // You can return a cleanup function if needed</a:t>
            </a:r>
          </a:p>
          <a:p>
            <a:pPr algn="l">
              <a:lnSpc>
                <a:spcPct val="120000"/>
              </a:lnSpc>
            </a:pPr>
            <a:r>
              <a:rPr lang="en-US" dirty="0">
                <a:solidFill>
                  <a:schemeClr val="bg1">
                    <a:lumMod val="50000"/>
                  </a:schemeClr>
                </a:solidFill>
                <a:latin typeface="Trebuchet MS" panose="020B0603020202020204" pitchFamily="34" charset="0"/>
              </a:rPr>
              <a:t>}, [dependency1, dependency2, ...]);</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useEffect</a:t>
            </a:r>
            <a:endParaRPr lang="en-US" sz="3600" dirty="0"/>
          </a:p>
        </p:txBody>
      </p:sp>
      <p:sp>
        <p:nvSpPr>
          <p:cNvPr id="3" name="Subtitle 2"/>
          <p:cNvSpPr>
            <a:spLocks noGrp="1"/>
          </p:cNvSpPr>
          <p:nvPr>
            <p:ph type="subTitle" idx="1"/>
          </p:nvPr>
        </p:nvSpPr>
        <p:spPr>
          <a:xfrm>
            <a:off x="816087" y="1194619"/>
            <a:ext cx="11041626" cy="5278437"/>
          </a:xfrm>
        </p:spPr>
        <p:txBody>
          <a:bodyPr>
            <a:normAutofit fontScale="90000" lnSpcReduction="20000"/>
          </a:bodyPr>
          <a:lstStyle/>
          <a:p>
            <a:pPr algn="l">
              <a:lnSpc>
                <a:spcPct val="120000"/>
              </a:lnSpc>
            </a:pPr>
            <a:r>
              <a:rPr lang="en-US" dirty="0">
                <a:solidFill>
                  <a:schemeClr val="bg1">
                    <a:lumMod val="50000"/>
                  </a:schemeClr>
                </a:solidFill>
                <a:latin typeface="Trebuchet MS" panose="020B0603020202020204" pitchFamily="34" charset="0"/>
              </a:rPr>
              <a:t>Key points:</a:t>
            </a:r>
          </a:p>
          <a:p>
            <a:pPr marL="342900" indent="-342900" algn="l">
              <a:lnSpc>
                <a:spcPct val="120000"/>
              </a:lnSpc>
              <a:buFont typeface="Arial" panose="020B0604020202020204" pitchFamily="34" charset="0"/>
              <a:buChar char="•"/>
            </a:pPr>
            <a:r>
              <a:rPr lang="en-US" sz="2600" dirty="0">
                <a:solidFill>
                  <a:schemeClr val="bg1">
                    <a:lumMod val="50000"/>
                  </a:schemeClr>
                </a:solidFill>
                <a:latin typeface="Trebuchet MS" panose="020B0603020202020204" pitchFamily="34" charset="0"/>
              </a:rPr>
              <a:t>The first argument to </a:t>
            </a:r>
            <a:r>
              <a:rPr lang="en-US" sz="2600" dirty="0" err="1">
                <a:solidFill>
                  <a:schemeClr val="bg1">
                    <a:lumMod val="50000"/>
                  </a:schemeClr>
                </a:solidFill>
                <a:latin typeface="Trebuchet MS" panose="020B0603020202020204" pitchFamily="34" charset="0"/>
              </a:rPr>
              <a:t>useEffect</a:t>
            </a:r>
            <a:r>
              <a:rPr lang="en-US" sz="2600" dirty="0">
                <a:solidFill>
                  <a:schemeClr val="bg1">
                    <a:lumMod val="50000"/>
                  </a:schemeClr>
                </a:solidFill>
                <a:latin typeface="Trebuchet MS" panose="020B0603020202020204" pitchFamily="34" charset="0"/>
              </a:rPr>
              <a:t> is a function containing the side effect logic.</a:t>
            </a:r>
          </a:p>
          <a:p>
            <a:pPr marL="342900" indent="-342900" algn="l">
              <a:lnSpc>
                <a:spcPct val="120000"/>
              </a:lnSpc>
              <a:buFont typeface="Arial" panose="020B0604020202020204" pitchFamily="34" charset="0"/>
              <a:buChar char="•"/>
            </a:pPr>
            <a:r>
              <a:rPr lang="en-US" sz="2600" dirty="0">
                <a:solidFill>
                  <a:schemeClr val="bg1">
                    <a:lumMod val="50000"/>
                  </a:schemeClr>
                </a:solidFill>
                <a:latin typeface="Trebuchet MS" panose="020B0603020202020204" pitchFamily="34" charset="0"/>
              </a:rPr>
              <a:t>The side effect function will run after every render, including the initial render.</a:t>
            </a:r>
          </a:p>
          <a:p>
            <a:pPr marL="342900" indent="-342900" algn="l">
              <a:lnSpc>
                <a:spcPct val="120000"/>
              </a:lnSpc>
              <a:buFont typeface="Arial" panose="020B0604020202020204" pitchFamily="34" charset="0"/>
              <a:buChar char="•"/>
            </a:pPr>
            <a:r>
              <a:rPr lang="en-US" sz="2600" dirty="0">
                <a:solidFill>
                  <a:schemeClr val="bg1">
                    <a:lumMod val="50000"/>
                  </a:schemeClr>
                </a:solidFill>
                <a:latin typeface="Trebuchet MS" panose="020B0603020202020204" pitchFamily="34" charset="0"/>
              </a:rPr>
              <a:t>The second argument is an optional array of dependencies. If provided, the side effect function will only re-run if any of the dependencies have changed since the last render. If no dependencies are provided, the effect runs after every render.</a:t>
            </a:r>
          </a:p>
          <a:p>
            <a:pPr marL="342900" indent="-342900" algn="l">
              <a:lnSpc>
                <a:spcPct val="120000"/>
              </a:lnSpc>
              <a:buFont typeface="Arial" panose="020B0604020202020204" pitchFamily="34" charset="0"/>
              <a:buChar char="•"/>
            </a:pPr>
            <a:r>
              <a:rPr lang="en-US" sz="2600" dirty="0">
                <a:solidFill>
                  <a:schemeClr val="bg1">
                    <a:lumMod val="50000"/>
                  </a:schemeClr>
                </a:solidFill>
                <a:latin typeface="Trebuchet MS" panose="020B0603020202020204" pitchFamily="34" charset="0"/>
              </a:rPr>
              <a:t>If you pass an empty dependency array ([]), the effect runs after the initial render and never re-runs.</a:t>
            </a:r>
          </a:p>
          <a:p>
            <a:pPr marL="342900" indent="-342900" algn="l">
              <a:lnSpc>
                <a:spcPct val="120000"/>
              </a:lnSpc>
              <a:buFont typeface="Arial" panose="020B0604020202020204" pitchFamily="34" charset="0"/>
              <a:buChar char="•"/>
            </a:pPr>
            <a:r>
              <a:rPr lang="en-US" sz="2600" dirty="0">
                <a:solidFill>
                  <a:schemeClr val="bg1">
                    <a:lumMod val="50000"/>
                  </a:schemeClr>
                </a:solidFill>
                <a:latin typeface="Trebuchet MS" panose="020B0603020202020204" pitchFamily="34" charset="0"/>
              </a:rPr>
              <a:t>You can return a cleanup function from the side effect function to handle any necessary cleanup when the component unmounts or when the dependencies change.</a:t>
            </a:r>
          </a:p>
          <a:p>
            <a:pPr algn="l">
              <a:lnSpc>
                <a:spcPct val="120000"/>
              </a:lnSpc>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useEffect</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algn="l">
              <a:lnSpc>
                <a:spcPct val="120000"/>
              </a:lnSpc>
            </a:pPr>
            <a:r>
              <a:rPr lang="en-US" dirty="0">
                <a:solidFill>
                  <a:schemeClr val="bg1">
                    <a:lumMod val="50000"/>
                  </a:schemeClr>
                </a:solidFill>
                <a:latin typeface="Trebuchet MS" panose="020B0603020202020204" pitchFamily="34" charset="0"/>
              </a:rPr>
              <a:t>Key points: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Remember that using </a:t>
            </a:r>
            <a:r>
              <a:rPr lang="en-US" dirty="0" err="1">
                <a:solidFill>
                  <a:schemeClr val="bg1">
                    <a:lumMod val="50000"/>
                  </a:schemeClr>
                </a:solidFill>
                <a:latin typeface="Trebuchet MS" panose="020B0603020202020204" pitchFamily="34" charset="0"/>
              </a:rPr>
              <a:t>useEffect</a:t>
            </a:r>
            <a:r>
              <a:rPr lang="en-US" dirty="0">
                <a:solidFill>
                  <a:schemeClr val="bg1">
                    <a:lumMod val="50000"/>
                  </a:schemeClr>
                </a:solidFill>
                <a:latin typeface="Trebuchet MS" panose="020B0603020202020204" pitchFamily="34" charset="0"/>
              </a:rPr>
              <a:t> without providing dependencies can lead to unintended side effects or performance issues, as it will run on every render. Always provide the appropriate dependencies to ensure the effect runs only when necessary.</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can use multiple useEffect hooks in a single component to separate different concerns. Each effect can have its own dependencies and cleanup logic.</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the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hook is used to create a mutable reference to a DOM element or a value that persists across renders. It allows you to access and interact with DOM elements directly without triggering a re-render. Additionally, it can be used to hold references to any value that you want to persist across component renders without causing re-renders.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Syntax:</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myRef</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a:t>
            </a:r>
            <a:r>
              <a:rPr lang="en-US" dirty="0" err="1">
                <a:solidFill>
                  <a:schemeClr val="bg1">
                    <a:lumMod val="50000"/>
                  </a:schemeClr>
                </a:solidFill>
                <a:latin typeface="Trebuchet MS" panose="020B0603020202020204" pitchFamily="34" charset="0"/>
              </a:rPr>
              <a:t>initialValue</a:t>
            </a:r>
            <a:r>
              <a:rPr lang="en-US" dirty="0">
                <a:solidFill>
                  <a:schemeClr val="bg1">
                    <a:lumMod val="50000"/>
                  </a:schemeClr>
                </a:solidFill>
                <a:latin typeface="Trebuchet MS" panose="020B0603020202020204" pitchFamily="34"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Key points: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hook returns a mutable object with a .current property. You can assign any value to .current, and it will persist across renders.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hook does not trigger a re-render when the .current value is updated, unlike state or props updates.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.current property retains its value between renders and behaves like an instance variable on the functional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hook is commonly used for accessing and interacting with DOM elements, but it can also be used for other purposes, like holding previous state values or other mutable references.</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Key points: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Keep in mind that using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to modify the DOM directly should generally be reserved for cases where it's necessary. In most cases, </a:t>
            </a:r>
            <a:r>
              <a:rPr lang="en-US" dirty="0" err="1">
                <a:solidFill>
                  <a:schemeClr val="bg1">
                    <a:lumMod val="50000"/>
                  </a:schemeClr>
                </a:solidFill>
                <a:latin typeface="Trebuchet MS" panose="020B0603020202020204" pitchFamily="34" charset="0"/>
              </a:rPr>
              <a:t>React's</a:t>
            </a:r>
            <a:r>
              <a:rPr lang="en-US" dirty="0">
                <a:solidFill>
                  <a:schemeClr val="bg1">
                    <a:lumMod val="50000"/>
                  </a:schemeClr>
                </a:solidFill>
                <a:latin typeface="Trebuchet MS" panose="020B0603020202020204" pitchFamily="34" charset="0"/>
              </a:rPr>
              <a:t> declarative approach (using state and props) is preferred over direct DOM manipulation. However,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can be very useful in certain scenarios, such as working with third-party libraries that require direct access to DOM elements.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can be used in various scenarios where you need to access and manage references to DOM elements or hold mutable values that persist across renders. Here are some common use cases for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Accessing DOM elements: When you need to interact with DOM elements directly, such as focusing an input, scrolling to a specific element, or measuring the size of an element,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allows you to create a reference to the DOM node and access its properties and methods.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Managing previous values: You can use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to store the previous value of a prop or state when they change, without causing a re-render. This can be useful for comparing current and previous values within the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Preserving values across renders: Unlike state or props, updating the .current property of a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object does not trigger a re-render. This can be beneficial when you have a value that you want to persist across renders without affecting the component's rendering.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Storing mutable values for functional components: If you have a value that is required for a computation or event handling in your component, and you don't want it to trigger a re-render, you can store it using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Referencing child components: In some cases, you may need to access or interact with methods or properties of a child component from its parent.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can be used to hold a reference to the child component instance.</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What is </a:t>
            </a:r>
            <a:r>
              <a:rPr lang="en-US" dirty="0" err="1">
                <a:solidFill>
                  <a:schemeClr val="bg1">
                    <a:lumMod val="50000"/>
                  </a:schemeClr>
                </a:solidFill>
                <a:latin typeface="Trebuchet MS" panose="020B0603020202020204" pitchFamily="34" charset="0"/>
              </a:rPr>
              <a:t>forwardRef</a:t>
            </a:r>
            <a:r>
              <a:rPr lang="en-US" dirty="0">
                <a:solidFill>
                  <a:schemeClr val="bg1">
                    <a:lumMod val="50000"/>
                  </a:schemeClr>
                </a:solidFill>
                <a:latin typeface="Trebuchet MS" panose="020B0603020202020204" pitchFamily="34" charset="0"/>
              </a:rPr>
              <a:t> ?</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the </a:t>
            </a:r>
            <a:r>
              <a:rPr lang="en-US" dirty="0" err="1">
                <a:solidFill>
                  <a:schemeClr val="bg1">
                    <a:lumMod val="50000"/>
                  </a:schemeClr>
                </a:solidFill>
                <a:latin typeface="Trebuchet MS" panose="020B0603020202020204" pitchFamily="34" charset="0"/>
              </a:rPr>
              <a:t>forwardRef</a:t>
            </a:r>
            <a:r>
              <a:rPr lang="en-US" dirty="0">
                <a:solidFill>
                  <a:schemeClr val="bg1">
                    <a:lumMod val="50000"/>
                  </a:schemeClr>
                </a:solidFill>
                <a:latin typeface="Trebuchet MS" panose="020B0603020202020204" pitchFamily="34" charset="0"/>
              </a:rPr>
              <a:t> function is used to pass a ref from a parent component to a child component. This is particularly useful when you have a child component that needs to expose its internal DOM element or certain methods to the parent component. Using </a:t>
            </a:r>
            <a:r>
              <a:rPr lang="en-US" dirty="0" err="1">
                <a:solidFill>
                  <a:schemeClr val="bg1">
                    <a:lumMod val="50000"/>
                  </a:schemeClr>
                </a:solidFill>
                <a:latin typeface="Trebuchet MS" panose="020B0603020202020204" pitchFamily="34" charset="0"/>
              </a:rPr>
              <a:t>forwardRef</a:t>
            </a:r>
            <a:r>
              <a:rPr lang="en-US" dirty="0">
                <a:solidFill>
                  <a:schemeClr val="bg1">
                    <a:lumMod val="50000"/>
                  </a:schemeClr>
                </a:solidFill>
                <a:latin typeface="Trebuchet MS" panose="020B0603020202020204" pitchFamily="34" charset="0"/>
              </a:rPr>
              <a:t>, the parent component can access the child component's ref and interact with the child's DOM or methods directly.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Steps to use </a:t>
            </a:r>
            <a:r>
              <a:rPr lang="en-US" dirty="0" err="1">
                <a:solidFill>
                  <a:schemeClr val="bg1">
                    <a:lumMod val="50000"/>
                  </a:schemeClr>
                </a:solidFill>
                <a:latin typeface="Trebuchet MS" panose="020B0603020202020204" pitchFamily="34" charset="0"/>
              </a:rPr>
              <a:t>forwardRef</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Create a child component that you want to pass the ref to. The child component should use the </a:t>
            </a:r>
            <a:r>
              <a:rPr lang="en-US" dirty="0" err="1">
                <a:solidFill>
                  <a:schemeClr val="bg1">
                    <a:lumMod val="50000"/>
                  </a:schemeClr>
                </a:solidFill>
                <a:latin typeface="Trebuchet MS" panose="020B0603020202020204" pitchFamily="34" charset="0"/>
              </a:rPr>
              <a:t>React.forwardRef</a:t>
            </a:r>
            <a:r>
              <a:rPr lang="en-US" dirty="0">
                <a:solidFill>
                  <a:schemeClr val="bg1">
                    <a:lumMod val="50000"/>
                  </a:schemeClr>
                </a:solidFill>
                <a:latin typeface="Trebuchet MS" panose="020B0603020202020204" pitchFamily="34" charset="0"/>
              </a:rPr>
              <a:t> function to access the ref passed by the parent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a:t>
            </a:r>
            <a:r>
              <a:rPr lang="en-US" dirty="0" err="1">
                <a:solidFill>
                  <a:schemeClr val="bg1">
                    <a:lumMod val="50000"/>
                  </a:schemeClr>
                </a:solidFill>
                <a:latin typeface="Trebuchet MS" panose="020B0603020202020204" pitchFamily="34" charset="0"/>
              </a:rPr>
              <a:t>nees</a:t>
            </a:r>
            <a:r>
              <a:rPr lang="en-US" dirty="0">
                <a:solidFill>
                  <a:schemeClr val="bg1">
                    <a:lumMod val="50000"/>
                  </a:schemeClr>
                </a:solidFill>
                <a:latin typeface="Trebuchet MS" panose="020B0603020202020204" pitchFamily="34" charset="0"/>
              </a:rPr>
              <a:t> to define the </a:t>
            </a:r>
            <a:r>
              <a:rPr lang="en-US" dirty="0" err="1">
                <a:solidFill>
                  <a:schemeClr val="bg1">
                    <a:lumMod val="50000"/>
                  </a:schemeClr>
                </a:solidFill>
                <a:latin typeface="Trebuchet MS" panose="020B0603020202020204" pitchFamily="34" charset="0"/>
              </a:rPr>
              <a:t>ChildComponent</a:t>
            </a:r>
            <a:r>
              <a:rPr lang="en-US" dirty="0">
                <a:solidFill>
                  <a:schemeClr val="bg1">
                    <a:lumMod val="50000"/>
                  </a:schemeClr>
                </a:solidFill>
                <a:latin typeface="Trebuchet MS" panose="020B0603020202020204" pitchFamily="34" charset="0"/>
              </a:rPr>
              <a:t> as a forward-ref component using </a:t>
            </a:r>
            <a:r>
              <a:rPr lang="en-US" dirty="0" err="1">
                <a:solidFill>
                  <a:schemeClr val="bg1">
                    <a:lumMod val="50000"/>
                  </a:schemeClr>
                </a:solidFill>
                <a:latin typeface="Trebuchet MS" panose="020B0603020202020204" pitchFamily="34" charset="0"/>
              </a:rPr>
              <a:t>React.ForwardRefRenderFunction</a:t>
            </a:r>
            <a:r>
              <a:rPr lang="en-US" dirty="0">
                <a:solidFill>
                  <a:schemeClr val="bg1">
                    <a:lumMod val="50000"/>
                  </a:schemeClr>
                </a:solidFill>
                <a:latin typeface="Trebuchet MS" panose="020B0603020202020204" pitchFamily="34" charset="0"/>
              </a:rPr>
              <a:t>. It takes two arguments: props for the component's regular props and ref for the ref passed by the parent component.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create the parent component that uses the </a:t>
            </a:r>
            <a:r>
              <a:rPr lang="en-US" dirty="0" err="1">
                <a:solidFill>
                  <a:schemeClr val="bg1">
                    <a:lumMod val="50000"/>
                  </a:schemeClr>
                </a:solidFill>
                <a:latin typeface="Trebuchet MS" panose="020B0603020202020204" pitchFamily="34" charset="0"/>
              </a:rPr>
              <a:t>ChildComponent</a:t>
            </a:r>
            <a:r>
              <a:rPr lang="en-US" dirty="0">
                <a:solidFill>
                  <a:schemeClr val="bg1">
                    <a:lumMod val="50000"/>
                  </a:schemeClr>
                </a:solidFill>
                <a:latin typeface="Trebuchet MS" panose="020B0603020202020204" pitchFamily="34" charset="0"/>
              </a:rPr>
              <a:t> and passes the ref to 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err="1">
                <a:solidFill>
                  <a:prstClr val="white">
                    <a:lumMod val="50000"/>
                  </a:prstClr>
                </a:solidFill>
                <a:latin typeface="Trebuchet MS" panose="020B0603020202020204" pitchFamily="34" charset="0"/>
              </a:rPr>
              <a:t>useRef</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the </a:t>
            </a:r>
            <a:r>
              <a:rPr lang="en-US" dirty="0" err="1">
                <a:solidFill>
                  <a:schemeClr val="bg1">
                    <a:lumMod val="50000"/>
                  </a:schemeClr>
                </a:solidFill>
                <a:latin typeface="Trebuchet MS" panose="020B0603020202020204" pitchFamily="34" charset="0"/>
              </a:rPr>
              <a:t>ParentComponent</a:t>
            </a:r>
            <a:r>
              <a:rPr lang="en-US" dirty="0">
                <a:solidFill>
                  <a:schemeClr val="bg1">
                    <a:lumMod val="50000"/>
                  </a:schemeClr>
                </a:solidFill>
                <a:latin typeface="Trebuchet MS" panose="020B0603020202020204" pitchFamily="34" charset="0"/>
              </a:rPr>
              <a:t>, you need to create </a:t>
            </a:r>
            <a:r>
              <a:rPr lang="en-US" dirty="0" err="1">
                <a:solidFill>
                  <a:schemeClr val="bg1">
                    <a:lumMod val="50000"/>
                  </a:schemeClr>
                </a:solidFill>
                <a:latin typeface="Trebuchet MS" panose="020B0603020202020204" pitchFamily="34" charset="0"/>
              </a:rPr>
              <a:t>create</a:t>
            </a:r>
            <a:r>
              <a:rPr lang="en-US" dirty="0">
                <a:solidFill>
                  <a:schemeClr val="bg1">
                    <a:lumMod val="50000"/>
                  </a:schemeClr>
                </a:solidFill>
                <a:latin typeface="Trebuchet MS" panose="020B0603020202020204" pitchFamily="34" charset="0"/>
              </a:rPr>
              <a:t> a </a:t>
            </a:r>
            <a:r>
              <a:rPr lang="en-US" dirty="0" err="1">
                <a:solidFill>
                  <a:schemeClr val="bg1">
                    <a:lumMod val="50000"/>
                  </a:schemeClr>
                </a:solidFill>
                <a:latin typeface="Trebuchet MS" panose="020B0603020202020204" pitchFamily="34" charset="0"/>
              </a:rPr>
              <a:t>childRef</a:t>
            </a:r>
            <a:r>
              <a:rPr lang="en-US" dirty="0">
                <a:solidFill>
                  <a:schemeClr val="bg1">
                    <a:lumMod val="50000"/>
                  </a:schemeClr>
                </a:solidFill>
                <a:latin typeface="Trebuchet MS" panose="020B0603020202020204" pitchFamily="34" charset="0"/>
              </a:rPr>
              <a:t> using </a:t>
            </a:r>
            <a:r>
              <a:rPr lang="en-US" dirty="0" err="1">
                <a:solidFill>
                  <a:schemeClr val="bg1">
                    <a:lumMod val="50000"/>
                  </a:schemeClr>
                </a:solidFill>
                <a:latin typeface="Trebuchet MS" panose="020B0603020202020204" pitchFamily="34" charset="0"/>
              </a:rPr>
              <a:t>useRef</a:t>
            </a:r>
            <a:r>
              <a:rPr lang="en-US" dirty="0">
                <a:solidFill>
                  <a:schemeClr val="bg1">
                    <a:lumMod val="50000"/>
                  </a:schemeClr>
                </a:solidFill>
                <a:latin typeface="Trebuchet MS" panose="020B0603020202020204" pitchFamily="34" charset="0"/>
              </a:rPr>
              <a:t>. We then pass this </a:t>
            </a:r>
            <a:r>
              <a:rPr lang="en-US" dirty="0" err="1">
                <a:solidFill>
                  <a:schemeClr val="bg1">
                    <a:lumMod val="50000"/>
                  </a:schemeClr>
                </a:solidFill>
                <a:latin typeface="Trebuchet MS" panose="020B0603020202020204" pitchFamily="34" charset="0"/>
              </a:rPr>
              <a:t>childRef</a:t>
            </a:r>
            <a:r>
              <a:rPr lang="en-US" dirty="0">
                <a:solidFill>
                  <a:schemeClr val="bg1">
                    <a:lumMod val="50000"/>
                  </a:schemeClr>
                </a:solidFill>
                <a:latin typeface="Trebuchet MS" panose="020B0603020202020204" pitchFamily="34" charset="0"/>
              </a:rPr>
              <a:t> as the ref prop to the </a:t>
            </a:r>
            <a:r>
              <a:rPr lang="en-US" dirty="0" err="1">
                <a:solidFill>
                  <a:schemeClr val="bg1">
                    <a:lumMod val="50000"/>
                  </a:schemeClr>
                </a:solidFill>
                <a:latin typeface="Trebuchet MS" panose="020B0603020202020204" pitchFamily="34" charset="0"/>
              </a:rPr>
              <a:t>ChildComponent</a:t>
            </a:r>
            <a:r>
              <a:rPr lang="en-US" dirty="0">
                <a:solidFill>
                  <a:schemeClr val="bg1">
                    <a:lumMod val="50000"/>
                  </a:schemeClr>
                </a:solidFill>
                <a:latin typeface="Trebuchet MS" panose="020B0603020202020204" pitchFamily="34" charset="0"/>
              </a:rPr>
              <a:t>. Now, the </a:t>
            </a:r>
            <a:r>
              <a:rPr lang="en-US" dirty="0" err="1">
                <a:solidFill>
                  <a:schemeClr val="bg1">
                    <a:lumMod val="50000"/>
                  </a:schemeClr>
                </a:solidFill>
                <a:latin typeface="Trebuchet MS" panose="020B0603020202020204" pitchFamily="34" charset="0"/>
              </a:rPr>
              <a:t>ParentComponent</a:t>
            </a:r>
            <a:r>
              <a:rPr lang="en-US" dirty="0">
                <a:solidFill>
                  <a:schemeClr val="bg1">
                    <a:lumMod val="50000"/>
                  </a:schemeClr>
                </a:solidFill>
                <a:latin typeface="Trebuchet MS" panose="020B0603020202020204" pitchFamily="34" charset="0"/>
              </a:rPr>
              <a:t> can access the DOM element of the </a:t>
            </a:r>
            <a:r>
              <a:rPr lang="en-US" dirty="0" err="1">
                <a:solidFill>
                  <a:schemeClr val="bg1">
                    <a:lumMod val="50000"/>
                  </a:schemeClr>
                </a:solidFill>
                <a:latin typeface="Trebuchet MS" panose="020B0603020202020204" pitchFamily="34" charset="0"/>
              </a:rPr>
              <a:t>ChildComponent</a:t>
            </a:r>
            <a:r>
              <a:rPr lang="en-US" dirty="0">
                <a:solidFill>
                  <a:schemeClr val="bg1">
                    <a:lumMod val="50000"/>
                  </a:schemeClr>
                </a:solidFill>
                <a:latin typeface="Trebuchet MS" panose="020B0603020202020204" pitchFamily="34" charset="0"/>
              </a:rPr>
              <a:t> using </a:t>
            </a:r>
            <a:r>
              <a:rPr lang="en-US" dirty="0" err="1">
                <a:solidFill>
                  <a:schemeClr val="bg1">
                    <a:lumMod val="50000"/>
                  </a:schemeClr>
                </a:solidFill>
                <a:latin typeface="Trebuchet MS" panose="020B0603020202020204" pitchFamily="34" charset="0"/>
              </a:rPr>
              <a:t>childRef.current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Using </a:t>
            </a:r>
            <a:r>
              <a:rPr lang="en-US" dirty="0" err="1">
                <a:solidFill>
                  <a:schemeClr val="bg1">
                    <a:lumMod val="50000"/>
                  </a:schemeClr>
                </a:solidFill>
                <a:latin typeface="Trebuchet MS" panose="020B0603020202020204" pitchFamily="34" charset="0"/>
              </a:rPr>
              <a:t>forwardRef</a:t>
            </a:r>
            <a:r>
              <a:rPr lang="en-US" dirty="0">
                <a:solidFill>
                  <a:schemeClr val="bg1">
                    <a:lumMod val="50000"/>
                  </a:schemeClr>
                </a:solidFill>
                <a:latin typeface="Trebuchet MS" panose="020B0603020202020204" pitchFamily="34" charset="0"/>
              </a:rPr>
              <a:t>, the </a:t>
            </a:r>
            <a:r>
              <a:rPr lang="en-US" dirty="0" err="1">
                <a:solidFill>
                  <a:schemeClr val="bg1">
                    <a:lumMod val="50000"/>
                  </a:schemeClr>
                </a:solidFill>
                <a:latin typeface="Trebuchet MS" panose="020B0603020202020204" pitchFamily="34" charset="0"/>
              </a:rPr>
              <a:t>ParentComponent</a:t>
            </a:r>
            <a:r>
              <a:rPr lang="en-US" dirty="0">
                <a:solidFill>
                  <a:schemeClr val="bg1">
                    <a:lumMod val="50000"/>
                  </a:schemeClr>
                </a:solidFill>
                <a:latin typeface="Trebuchet MS" panose="020B0603020202020204" pitchFamily="34" charset="0"/>
              </a:rPr>
              <a:t> has the ability to interact with the DOM and methods of the </a:t>
            </a:r>
            <a:r>
              <a:rPr lang="en-US" dirty="0" err="1">
                <a:solidFill>
                  <a:schemeClr val="bg1">
                    <a:lumMod val="50000"/>
                  </a:schemeClr>
                </a:solidFill>
                <a:latin typeface="Trebuchet MS" panose="020B0603020202020204" pitchFamily="34" charset="0"/>
              </a:rPr>
              <a:t>ChildComponent</a:t>
            </a:r>
            <a:r>
              <a:rPr lang="en-US" dirty="0">
                <a:solidFill>
                  <a:schemeClr val="bg1">
                    <a:lumMod val="50000"/>
                  </a:schemeClr>
                </a:solidFill>
                <a:latin typeface="Trebuchet MS" panose="020B0603020202020204" pitchFamily="34" charset="0"/>
              </a:rPr>
              <a:t>. This is especially helpful when you need to access and manipulate the child's internal state or DOM elements from the parent component.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Conditional rendering in </a:t>
            </a:r>
            <a:r>
              <a:rPr lang="en-US">
                <a:solidFill>
                  <a:schemeClr val="bg1">
                    <a:lumMod val="50000"/>
                  </a:schemeClr>
                </a:solidFill>
                <a:latin typeface="Trebuchet MS" panose="020B0603020202020204" pitchFamily="34" charset="0"/>
              </a:rPr>
              <a:t>React  </a:t>
            </a:r>
            <a:r>
              <a:rPr lang="en-US" dirty="0">
                <a:solidFill>
                  <a:schemeClr val="bg1">
                    <a:lumMod val="50000"/>
                  </a:schemeClr>
                </a:solidFill>
                <a:latin typeface="Trebuchet MS" panose="020B0603020202020204" pitchFamily="34" charset="0"/>
              </a:rPr>
              <a:t>with TypeScript refers to the practice of conditionally displaying different content or components based on certain conditions or states. It allows you to control what gets rendered to the DOM based on the values of variables, state, or props in your React components.</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There are several ways to perform conditional rendering in React with TypeScript: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194619"/>
            <a:ext cx="11041626" cy="5278437"/>
          </a:xfrm>
        </p:spPr>
        <p:txBody>
          <a:bodyPr>
            <a:normAutofit fontScale="77500" lnSpcReduction="20000"/>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If/Else Statements: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can use traditional JavaScript if/else statements to conditionally render content. For example:</a:t>
            </a:r>
          </a:p>
          <a:p>
            <a:pPr algn="l">
              <a:lnSpc>
                <a:spcPct val="120000"/>
              </a:lnSpc>
            </a:pPr>
            <a:r>
              <a:rPr lang="en-US" dirty="0">
                <a:solidFill>
                  <a:schemeClr val="bg1">
                    <a:lumMod val="50000"/>
                  </a:schemeClr>
                </a:solidFill>
                <a:latin typeface="Trebuchet MS" panose="020B0603020202020204" pitchFamily="34" charset="0"/>
              </a:rPr>
              <a:t>import React from 'react';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true;</a:t>
            </a:r>
          </a:p>
          <a:p>
            <a:pPr algn="l">
              <a:lnSpc>
                <a:spcPct val="120000"/>
              </a:lnSpc>
            </a:pPr>
            <a:r>
              <a:rPr lang="en-US" dirty="0">
                <a:solidFill>
                  <a:schemeClr val="bg1">
                    <a:lumMod val="50000"/>
                  </a:schemeClr>
                </a:solidFill>
                <a:latin typeface="Trebuchet MS" panose="020B0603020202020204" pitchFamily="34" charset="0"/>
              </a:rPr>
              <a:t>  if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    return &lt;p&gt;Welcome, User!&lt;/p&gt;;</a:t>
            </a:r>
          </a:p>
          <a:p>
            <a:pPr algn="l">
              <a:lnSpc>
                <a:spcPct val="120000"/>
              </a:lnSpc>
            </a:pPr>
            <a:r>
              <a:rPr lang="en-US" dirty="0">
                <a:solidFill>
                  <a:schemeClr val="bg1">
                    <a:lumMod val="50000"/>
                  </a:schemeClr>
                </a:solidFill>
                <a:latin typeface="Trebuchet MS" panose="020B0603020202020204" pitchFamily="34" charset="0"/>
              </a:rPr>
              <a:t>  } else {</a:t>
            </a:r>
          </a:p>
          <a:p>
            <a:pPr algn="l">
              <a:lnSpc>
                <a:spcPct val="120000"/>
              </a:lnSpc>
            </a:pPr>
            <a:r>
              <a:rPr lang="en-US" dirty="0">
                <a:solidFill>
                  <a:schemeClr val="bg1">
                    <a:lumMod val="50000"/>
                  </a:schemeClr>
                </a:solidFill>
                <a:latin typeface="Trebuchet MS" panose="020B0603020202020204" pitchFamily="34" charset="0"/>
              </a:rPr>
              <a:t>    return &lt;p&gt;Please log in to continue.&lt;/p&gt;;</a:t>
            </a:r>
          </a:p>
          <a:p>
            <a:pPr algn="l">
              <a:lnSpc>
                <a:spcPct val="120000"/>
              </a:lnSpc>
            </a:pP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194619"/>
            <a:ext cx="11041626" cy="5278437"/>
          </a:xfrm>
        </p:spPr>
        <p:txBody>
          <a:bodyPr>
            <a:normAutofit fontScale="92500"/>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Ternary Operator:</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ternary operator is a concise way to conditionally render content based on a condition. It's particularly useful when you have two different options to render. For example:</a:t>
            </a:r>
          </a:p>
          <a:p>
            <a:pPr algn="l">
              <a:lnSpc>
                <a:spcPct val="120000"/>
              </a:lnSpc>
            </a:pPr>
            <a:r>
              <a:rPr lang="en-US" dirty="0">
                <a:solidFill>
                  <a:schemeClr val="bg1">
                    <a:lumMod val="50000"/>
                  </a:schemeClr>
                </a:solidFill>
                <a:latin typeface="Trebuchet MS" panose="020B0603020202020204" pitchFamily="34" charset="0"/>
              </a:rPr>
              <a:t>import React from 'react';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true;</a:t>
            </a:r>
          </a:p>
          <a:p>
            <a:pPr algn="l">
              <a:lnSpc>
                <a:spcPct val="120000"/>
              </a:lnSpc>
            </a:pPr>
            <a:r>
              <a:rPr lang="en-US" dirty="0">
                <a:solidFill>
                  <a:schemeClr val="bg1">
                    <a:lumMod val="50000"/>
                  </a:schemeClr>
                </a:solidFill>
                <a:latin typeface="Trebuchet MS" panose="020B0603020202020204" pitchFamily="34" charset="0"/>
              </a:rPr>
              <a:t>  return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&lt;p&gt;Welcome, User!&lt;/p&gt; : &lt;p&gt;Please log in to continue.&lt;/p&gt;;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194619"/>
            <a:ext cx="11041626" cy="5278437"/>
          </a:xfrm>
        </p:spPr>
        <p:txBody>
          <a:bodyPr>
            <a:normAutofit lnSpcReduction="10000"/>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Logical &amp;&amp; Operator:</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can use the logical AND (&amp;&amp;) operator to conditionally render content when a condition is true. This is useful for rendering content based on a single condition. For example:</a:t>
            </a:r>
          </a:p>
          <a:p>
            <a:pPr algn="l">
              <a:lnSpc>
                <a:spcPct val="120000"/>
              </a:lnSpc>
            </a:pPr>
            <a:r>
              <a:rPr lang="en-US" dirty="0">
                <a:solidFill>
                  <a:schemeClr val="bg1">
                    <a:lumMod val="50000"/>
                  </a:schemeClr>
                </a:solidFill>
                <a:latin typeface="Trebuchet MS" panose="020B0603020202020204" pitchFamily="34" charset="0"/>
              </a:rPr>
              <a:t>import React from 'react';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true;</a:t>
            </a:r>
          </a:p>
          <a:p>
            <a:pPr algn="l">
              <a:lnSpc>
                <a:spcPct val="120000"/>
              </a:lnSpc>
            </a:pPr>
            <a:r>
              <a:rPr lang="en-US" dirty="0">
                <a:solidFill>
                  <a:schemeClr val="bg1">
                    <a:lumMod val="50000"/>
                  </a:schemeClr>
                </a:solidFill>
                <a:latin typeface="Trebuchet MS" panose="020B0603020202020204" pitchFamily="34" charset="0"/>
              </a:rPr>
              <a:t>  return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&amp;&amp; &lt;p&gt;Welcome, User!&lt;/p&gt;;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194619"/>
            <a:ext cx="11041626" cy="5278437"/>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Using State or Props: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can also perform conditional rendering based on the state or props of the component. When the state or prop values change, the component will automatically re-render with the appropriate content. For example: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032387"/>
            <a:ext cx="11041626" cy="5663381"/>
          </a:xfrm>
        </p:spPr>
        <p:txBody>
          <a:bodyPr>
            <a:normAutofit fontScale="85000" lnSpcReduction="20000"/>
          </a:bodyPr>
          <a:lstStyle/>
          <a:p>
            <a:pPr algn="l">
              <a:lnSpc>
                <a:spcPct val="120000"/>
              </a:lnSpc>
            </a:pPr>
            <a:r>
              <a:rPr lang="en-US" dirty="0">
                <a:solidFill>
                  <a:schemeClr val="bg1">
                    <a:lumMod val="50000"/>
                  </a:schemeClr>
                </a:solidFill>
                <a:latin typeface="Trebuchet MS" panose="020B0603020202020204" pitchFamily="34" charset="0"/>
              </a:rPr>
              <a:t>import React,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 } from 'react';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 =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setIsLoggedIn</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useState</a:t>
            </a:r>
            <a:r>
              <a:rPr lang="en-US" dirty="0">
                <a:solidFill>
                  <a:schemeClr val="bg1">
                    <a:lumMod val="50000"/>
                  </a:schemeClr>
                </a:solidFill>
                <a:latin typeface="Trebuchet MS" panose="020B0603020202020204" pitchFamily="34" charset="0"/>
              </a:rPr>
              <a:t>(false);</a:t>
            </a:r>
          </a:p>
          <a:p>
            <a:pPr algn="l">
              <a:lnSpc>
                <a:spcPct val="120000"/>
              </a:lnSpc>
            </a:pPr>
            <a:r>
              <a:rPr lang="en-US" dirty="0">
                <a:solidFill>
                  <a:schemeClr val="bg1">
                    <a:lumMod val="50000"/>
                  </a:schemeClr>
                </a:solidFill>
                <a:latin typeface="Trebuchet MS" panose="020B0603020202020204" pitchFamily="34" charset="0"/>
              </a:rPr>
              <a:t>  return (</a:t>
            </a:r>
          </a:p>
          <a:p>
            <a:pPr algn="l">
              <a:lnSpc>
                <a:spcPct val="120000"/>
              </a:lnSpc>
            </a:pPr>
            <a:r>
              <a:rPr lang="en-US" dirty="0">
                <a:solidFill>
                  <a:schemeClr val="bg1">
                    <a:lumMod val="50000"/>
                  </a:schemeClr>
                </a:solidFill>
                <a:latin typeface="Trebuchet MS" panose="020B0603020202020204" pitchFamily="34" charset="0"/>
              </a:rPr>
              <a:t>    &lt;div&gt;</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&lt;p&gt;Welcome, User!&lt;/p&gt; : &lt;p&gt;Please log in to continue.&lt;/p&gt;}</a:t>
            </a:r>
          </a:p>
          <a:p>
            <a:pPr algn="l">
              <a:lnSpc>
                <a:spcPct val="120000"/>
              </a:lnSpc>
            </a:pPr>
            <a:r>
              <a:rPr lang="en-US" dirty="0">
                <a:solidFill>
                  <a:schemeClr val="bg1">
                    <a:lumMod val="50000"/>
                  </a:schemeClr>
                </a:solidFill>
                <a:latin typeface="Trebuchet MS" panose="020B0603020202020204" pitchFamily="34" charset="0"/>
              </a:rPr>
              <a:t>      &lt;button </a:t>
            </a:r>
            <a:r>
              <a:rPr lang="en-US" dirty="0" err="1">
                <a:solidFill>
                  <a:schemeClr val="bg1">
                    <a:lumMod val="50000"/>
                  </a:schemeClr>
                </a:solidFill>
                <a:latin typeface="Trebuchet MS" panose="020B0603020202020204" pitchFamily="34" charset="0"/>
              </a:rPr>
              <a:t>onClick</a:t>
            </a:r>
            <a:r>
              <a:rPr lang="en-US" dirty="0">
                <a:solidFill>
                  <a:schemeClr val="bg1">
                    <a:lumMod val="50000"/>
                  </a:schemeClr>
                </a:solidFill>
                <a:latin typeface="Trebuchet MS" panose="020B0603020202020204" pitchFamily="34" charset="0"/>
              </a:rPr>
              <a:t>={() =&gt; </a:t>
            </a:r>
            <a:r>
              <a:rPr lang="en-US" dirty="0" err="1">
                <a:solidFill>
                  <a:schemeClr val="bg1">
                    <a:lumMod val="50000"/>
                  </a:schemeClr>
                </a:solidFill>
                <a:latin typeface="Trebuchet MS" panose="020B0603020202020204" pitchFamily="34" charset="0"/>
              </a:rPr>
              <a:t>setIsLoggedIn</a:t>
            </a:r>
            <a:r>
              <a:rPr lang="en-US" dirty="0">
                <a:solidFill>
                  <a:schemeClr val="bg1">
                    <a:lumMod val="50000"/>
                  </a:schemeClr>
                </a:solidFill>
                <a:latin typeface="Trebuchet MS" panose="020B0603020202020204" pitchFamily="34" charset="0"/>
              </a:rPr>
              <a:t>(!</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)}&gt;</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isLoggedIn</a:t>
            </a:r>
            <a:r>
              <a:rPr lang="en-US" dirty="0">
                <a:solidFill>
                  <a:schemeClr val="bg1">
                    <a:lumMod val="50000"/>
                  </a:schemeClr>
                </a:solidFill>
                <a:latin typeface="Trebuchet MS" panose="020B0603020202020204" pitchFamily="34" charset="0"/>
              </a:rPr>
              <a:t> ? 'Logout' : 'Login'}</a:t>
            </a:r>
          </a:p>
          <a:p>
            <a:pPr algn="l">
              <a:lnSpc>
                <a:spcPct val="120000"/>
              </a:lnSpc>
            </a:pPr>
            <a:r>
              <a:rPr lang="en-US" dirty="0">
                <a:solidFill>
                  <a:schemeClr val="bg1">
                    <a:lumMod val="50000"/>
                  </a:schemeClr>
                </a:solidFill>
                <a:latin typeface="Trebuchet MS" panose="020B0603020202020204" pitchFamily="34" charset="0"/>
              </a:rPr>
              <a:t>      &lt;/button&gt;</a:t>
            </a:r>
          </a:p>
          <a:p>
            <a:pPr algn="l">
              <a:lnSpc>
                <a:spcPct val="120000"/>
              </a:lnSpc>
            </a:pPr>
            <a:r>
              <a:rPr lang="en-US" dirty="0">
                <a:solidFill>
                  <a:schemeClr val="bg1">
                    <a:lumMod val="50000"/>
                  </a:schemeClr>
                </a:solidFill>
                <a:latin typeface="Trebuchet MS" panose="020B0603020202020204" pitchFamily="34" charset="0"/>
              </a:rPr>
              <a:t>    &lt;/div&gt;</a:t>
            </a:r>
          </a:p>
          <a:p>
            <a:pPr algn="l">
              <a:lnSpc>
                <a:spcPct val="120000"/>
              </a:lnSpc>
            </a:pP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Conditional rendering is a powerful feature in React that allows you to create dynamic and interactive user interfaces based on different states and conditions. It helps you control what your users see and interact with, making your components more flexible and responsive.</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List Rendering</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List rendering in React  with TypeScript is done using the .map() function to loop over an array of data and render multiple components based on that data. The basic syntax for list rendering is the same as in previous versions of React with TypeScript.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the key prop is used during list rendering to help React efficiently update and manage the rendered list of components. When you render a list of components using .map() or any other loop, React uses the key prop to uniquely identify each rendered component. This enables React to efficiently update and re-order components when the list changes (e.g., new items added, items removed, or items re-ordered).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List Rendering</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key prop must be unique among sibling components within the same array. It's recommended to use a stable and unique identifier for the key, such as an ID associated with each item, rather than using the index from the array (though using the index is acceptable if your list is static and won't be re-ordered).</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By using the key prop correctly, you ensure that React can efficiently manage the list and provide a smooth user experience when the list changes.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Style and </a:t>
            </a:r>
            <a:r>
              <a:rPr lang="en-US" sz="3600" dirty="0" err="1">
                <a:solidFill>
                  <a:prstClr val="white">
                    <a:lumMod val="50000"/>
                  </a:prstClr>
                </a:solidFill>
                <a:latin typeface="Trebuchet MS" panose="020B0603020202020204" pitchFamily="34" charset="0"/>
              </a:rPr>
              <a:t>Css</a:t>
            </a:r>
            <a:r>
              <a:rPr lang="en-US" sz="3600" dirty="0">
                <a:solidFill>
                  <a:prstClr val="white">
                    <a:lumMod val="50000"/>
                  </a:prstClr>
                </a:solidFill>
                <a:latin typeface="Trebuchet MS" panose="020B0603020202020204" pitchFamily="34" charset="0"/>
              </a:rPr>
              <a:t> in react </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you can apply styles to your components using the style prop and CSS classes. Both methods allow you to style your components and customize their appearance based on your requirements.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Inline Styles using the style prop:</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style prop in React allows you to apply inline styles directly to a component. It accepts an object where the keys represent the CSS property names in camelCase and the values are the corresponding CSS values as strings.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87" y="384944"/>
            <a:ext cx="8180439" cy="647443"/>
          </a:xfrm>
        </p:spPr>
        <p:txBody>
          <a:bodyPr>
            <a:normAutofit/>
          </a:bodyPr>
          <a:lstStyle/>
          <a:p>
            <a:r>
              <a:rPr lang="en-US" sz="3600" dirty="0">
                <a:solidFill>
                  <a:prstClr val="white">
                    <a:lumMod val="50000"/>
                  </a:prstClr>
                </a:solidFill>
                <a:latin typeface="Trebuchet MS" panose="020B0603020202020204" pitchFamily="34" charset="0"/>
              </a:rPr>
              <a:t>Style and CSS in react </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CSS Classes: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Using CSS classes is another common way to style React components. You can define your CSS rules in separate CSS files and import them into your component files. React 17 with TypeScript works the same way as React with JavaScript in this regard.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 of Style and CSS</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you can conditionally render styles and CSS classes in several ways. You can use regular JavaScript expressions, ternary operators, and logical &amp;&amp; operators to conditionally apply styles or CSS classes based on certain conditions in your components.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Using ternary operator for inline styles: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 of Style and CSS</a:t>
            </a:r>
            <a:endParaRPr lang="en-US" sz="3600" dirty="0"/>
          </a:p>
        </p:txBody>
      </p:sp>
      <p:sp>
        <p:nvSpPr>
          <p:cNvPr id="3" name="Subtitle 2"/>
          <p:cNvSpPr>
            <a:spLocks noGrp="1"/>
          </p:cNvSpPr>
          <p:nvPr>
            <p:ph type="subTitle" idx="1"/>
          </p:nvPr>
        </p:nvSpPr>
        <p:spPr>
          <a:xfrm>
            <a:off x="816087" y="1032387"/>
            <a:ext cx="11041626" cy="5663381"/>
          </a:xfrm>
        </p:spPr>
        <p:txBody>
          <a:bodyPr>
            <a:normAutofit fontScale="70000" lnSpcReduction="20000"/>
          </a:bodyPr>
          <a:lstStyle/>
          <a:p>
            <a:pPr algn="l">
              <a:lnSpc>
                <a:spcPct val="120000"/>
              </a:lnSpc>
            </a:pPr>
            <a:r>
              <a:rPr lang="en-US" dirty="0">
                <a:solidFill>
                  <a:schemeClr val="bg1">
                    <a:lumMod val="50000"/>
                  </a:schemeClr>
                </a:solidFill>
                <a:latin typeface="Trebuchet MS" panose="020B0603020202020204" pitchFamily="34" charset="0"/>
              </a:rPr>
              <a:t>import React from 'react';</a:t>
            </a:r>
          </a:p>
          <a:p>
            <a:pPr algn="l">
              <a:lnSpc>
                <a:spcPct val="120000"/>
              </a:lnSpc>
            </a:pPr>
            <a:r>
              <a:rPr lang="en-US" dirty="0">
                <a:solidFill>
                  <a:schemeClr val="bg1">
                    <a:lumMod val="50000"/>
                  </a:schemeClr>
                </a:solidFill>
                <a:latin typeface="Trebuchet MS" panose="020B0603020202020204" pitchFamily="34" charset="0"/>
              </a:rPr>
              <a:t>interface </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boolean</a:t>
            </a: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&lt;</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&gt; = ({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myStyle</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React.CSSProperties</a:t>
            </a:r>
            <a:r>
              <a:rPr lang="en-US" dirty="0">
                <a:solidFill>
                  <a:schemeClr val="bg1">
                    <a:lumMod val="50000"/>
                  </a:schemeClr>
                </a:solidFill>
                <a:latin typeface="Trebuchet MS" panose="020B0603020202020204" pitchFamily="34" charset="0"/>
              </a:rPr>
              <a:t> = {</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backgroundColor</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 'yellow' : 'white',</a:t>
            </a:r>
          </a:p>
          <a:p>
            <a:pPr algn="l">
              <a:lnSpc>
                <a:spcPct val="120000"/>
              </a:lnSpc>
            </a:pPr>
            <a:r>
              <a:rPr lang="en-US" dirty="0">
                <a:solidFill>
                  <a:schemeClr val="bg1">
                    <a:lumMod val="50000"/>
                  </a:schemeClr>
                </a:solidFill>
                <a:latin typeface="Trebuchet MS" panose="020B0603020202020204" pitchFamily="34" charset="0"/>
              </a:rPr>
              <a:t>    color: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 'black' : 'blue',</a:t>
            </a:r>
          </a:p>
          <a:p>
            <a:pPr algn="l">
              <a:lnSpc>
                <a:spcPct val="120000"/>
              </a:lnSpc>
            </a:pPr>
            <a:r>
              <a:rPr lang="en-US" dirty="0">
                <a:solidFill>
                  <a:schemeClr val="bg1">
                    <a:lumMod val="50000"/>
                  </a:schemeClr>
                </a:solidFill>
                <a:latin typeface="Trebuchet MS" panose="020B0603020202020204" pitchFamily="34" charset="0"/>
              </a:rPr>
              <a:t>    padding: '10px',</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borderRadius</a:t>
            </a:r>
            <a:r>
              <a:rPr lang="en-US" dirty="0">
                <a:solidFill>
                  <a:schemeClr val="bg1">
                    <a:lumMod val="50000"/>
                  </a:schemeClr>
                </a:solidFill>
                <a:latin typeface="Trebuchet MS" panose="020B0603020202020204" pitchFamily="34" charset="0"/>
              </a:rPr>
              <a:t>: '5px',</a:t>
            </a:r>
          </a:p>
          <a:p>
            <a:pPr algn="l">
              <a:lnSpc>
                <a:spcPct val="120000"/>
              </a:lnSpc>
            </a:pP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  return &lt;div style={</a:t>
            </a:r>
            <a:r>
              <a:rPr lang="en-US" dirty="0" err="1">
                <a:solidFill>
                  <a:schemeClr val="bg1">
                    <a:lumMod val="50000"/>
                  </a:schemeClr>
                </a:solidFill>
                <a:latin typeface="Trebuchet MS" panose="020B0603020202020204" pitchFamily="34" charset="0"/>
              </a:rPr>
              <a:t>myStyle</a:t>
            </a:r>
            <a:r>
              <a:rPr lang="en-US" dirty="0">
                <a:solidFill>
                  <a:schemeClr val="bg1">
                    <a:lumMod val="50000"/>
                  </a:schemeClr>
                </a:solidFill>
                <a:latin typeface="Trebuchet MS" panose="020B0603020202020204" pitchFamily="34" charset="0"/>
              </a:rPr>
              <a:t>}&gt;Hello, I am a styled component.&lt;/div&gt;;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 of Style and CSS</a:t>
            </a:r>
            <a:endParaRPr lang="en-US" sz="3600" dirty="0"/>
          </a:p>
        </p:txBody>
      </p:sp>
      <p:sp>
        <p:nvSpPr>
          <p:cNvPr id="3" name="Subtitle 2"/>
          <p:cNvSpPr>
            <a:spLocks noGrp="1"/>
          </p:cNvSpPr>
          <p:nvPr>
            <p:ph type="subTitle" idx="1"/>
          </p:nvPr>
        </p:nvSpPr>
        <p:spPr>
          <a:xfrm>
            <a:off x="816087" y="1032387"/>
            <a:ext cx="11041626" cy="5663381"/>
          </a:xfrm>
        </p:spPr>
        <p:txBody>
          <a:bodyPr>
            <a:normAutofit fontScale="92500" lnSpcReduction="10000"/>
          </a:bodyPr>
          <a:lstStyle/>
          <a:p>
            <a:pPr algn="l">
              <a:lnSpc>
                <a:spcPct val="120000"/>
              </a:lnSpc>
            </a:pPr>
            <a:r>
              <a:rPr lang="en-US" dirty="0">
                <a:solidFill>
                  <a:schemeClr val="bg1">
                    <a:lumMod val="50000"/>
                  </a:schemeClr>
                </a:solidFill>
                <a:latin typeface="Trebuchet MS" panose="020B0603020202020204" pitchFamily="34" charset="0"/>
              </a:rPr>
              <a:t>Using ternary operator for CSS classes:</a:t>
            </a:r>
          </a:p>
          <a:p>
            <a:pPr algn="l">
              <a:lnSpc>
                <a:spcPct val="120000"/>
              </a:lnSpc>
            </a:pPr>
            <a:r>
              <a:rPr lang="en-US" dirty="0">
                <a:solidFill>
                  <a:schemeClr val="bg1">
                    <a:lumMod val="50000"/>
                  </a:schemeClr>
                </a:solidFill>
                <a:latin typeface="Trebuchet MS" panose="020B0603020202020204" pitchFamily="34" charset="0"/>
              </a:rPr>
              <a:t>styles.css:</a:t>
            </a:r>
          </a:p>
          <a:p>
            <a:pPr algn="l">
              <a:lnSpc>
                <a:spcPct val="120000"/>
              </a:lnSpc>
            </a:pPr>
            <a:r>
              <a:rPr lang="en-US" dirty="0">
                <a:solidFill>
                  <a:schemeClr val="bg1">
                    <a:lumMod val="50000"/>
                  </a:schemeClr>
                </a:solidFill>
                <a:latin typeface="Trebuchet MS" panose="020B0603020202020204" pitchFamily="34" charset="0"/>
              </a:rPr>
              <a:t>.highlighted {</a:t>
            </a:r>
          </a:p>
          <a:p>
            <a:pPr algn="l">
              <a:lnSpc>
                <a:spcPct val="120000"/>
              </a:lnSpc>
            </a:pPr>
            <a:r>
              <a:rPr lang="en-US" dirty="0">
                <a:solidFill>
                  <a:schemeClr val="bg1">
                    <a:lumMod val="50000"/>
                  </a:schemeClr>
                </a:solidFill>
                <a:latin typeface="Trebuchet MS" panose="020B0603020202020204" pitchFamily="34" charset="0"/>
              </a:rPr>
              <a:t>  background-color: yellow;</a:t>
            </a:r>
          </a:p>
          <a:p>
            <a:pPr algn="l">
              <a:lnSpc>
                <a:spcPct val="120000"/>
              </a:lnSpc>
            </a:pPr>
            <a:r>
              <a:rPr lang="en-US" dirty="0">
                <a:solidFill>
                  <a:schemeClr val="bg1">
                    <a:lumMod val="50000"/>
                  </a:schemeClr>
                </a:solidFill>
                <a:latin typeface="Trebuchet MS" panose="020B0603020202020204" pitchFamily="34" charset="0"/>
              </a:rPr>
              <a:t>  color: black;</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.normal {</a:t>
            </a:r>
          </a:p>
          <a:p>
            <a:pPr algn="l">
              <a:lnSpc>
                <a:spcPct val="120000"/>
              </a:lnSpc>
            </a:pPr>
            <a:r>
              <a:rPr lang="en-US" dirty="0">
                <a:solidFill>
                  <a:schemeClr val="bg1">
                    <a:lumMod val="50000"/>
                  </a:schemeClr>
                </a:solidFill>
                <a:latin typeface="Trebuchet MS" panose="020B0603020202020204" pitchFamily="34" charset="0"/>
              </a:rPr>
              <a:t>  background-color: white;</a:t>
            </a:r>
          </a:p>
          <a:p>
            <a:pPr algn="l">
              <a:lnSpc>
                <a:spcPct val="120000"/>
              </a:lnSpc>
            </a:pPr>
            <a:r>
              <a:rPr lang="en-US" dirty="0">
                <a:solidFill>
                  <a:schemeClr val="bg1">
                    <a:lumMod val="50000"/>
                  </a:schemeClr>
                </a:solidFill>
                <a:latin typeface="Trebuchet MS" panose="020B0603020202020204" pitchFamily="34" charset="0"/>
              </a:rPr>
              <a:t>  color: blue;</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 Additional styles here */</a:t>
            </a:r>
          </a:p>
          <a:p>
            <a:pPr algn="l">
              <a:lnSpc>
                <a:spcPct val="120000"/>
              </a:lnSpc>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Conditional Rendering of Style and CSS</a:t>
            </a:r>
            <a:endParaRPr lang="en-US" sz="3600" dirty="0"/>
          </a:p>
        </p:txBody>
      </p:sp>
      <p:sp>
        <p:nvSpPr>
          <p:cNvPr id="3" name="Subtitle 2"/>
          <p:cNvSpPr>
            <a:spLocks noGrp="1"/>
          </p:cNvSpPr>
          <p:nvPr>
            <p:ph type="subTitle" idx="1"/>
          </p:nvPr>
        </p:nvSpPr>
        <p:spPr>
          <a:xfrm>
            <a:off x="816087" y="1032387"/>
            <a:ext cx="11041626" cy="5663381"/>
          </a:xfrm>
        </p:spPr>
        <p:txBody>
          <a:bodyPr>
            <a:normAutofit fontScale="85000" lnSpcReduction="20000"/>
          </a:bodyPr>
          <a:lstStyle/>
          <a:p>
            <a:pPr algn="l">
              <a:lnSpc>
                <a:spcPct val="120000"/>
              </a:lnSpc>
            </a:pPr>
            <a:r>
              <a:rPr lang="en-US" dirty="0">
                <a:solidFill>
                  <a:schemeClr val="bg1">
                    <a:lumMod val="50000"/>
                  </a:schemeClr>
                </a:solidFill>
                <a:latin typeface="Trebuchet MS" panose="020B0603020202020204" pitchFamily="34" charset="0"/>
              </a:rPr>
              <a:t>Using ternary operator for CSS classes:</a:t>
            </a:r>
          </a:p>
          <a:p>
            <a:pPr algn="l">
              <a:lnSpc>
                <a:spcPct val="120000"/>
              </a:lnSpc>
            </a:pPr>
            <a:r>
              <a:rPr lang="en-US" dirty="0">
                <a:solidFill>
                  <a:schemeClr val="bg1">
                    <a:lumMod val="50000"/>
                  </a:schemeClr>
                </a:solidFill>
                <a:latin typeface="Trebuchet MS" panose="020B0603020202020204" pitchFamily="34" charset="0"/>
              </a:rPr>
              <a:t>import React from 'react';</a:t>
            </a:r>
          </a:p>
          <a:p>
            <a:pPr algn="l">
              <a:lnSpc>
                <a:spcPct val="120000"/>
              </a:lnSpc>
            </a:pPr>
            <a:r>
              <a:rPr lang="en-US" dirty="0">
                <a:solidFill>
                  <a:schemeClr val="bg1">
                    <a:lumMod val="50000"/>
                  </a:schemeClr>
                </a:solidFill>
                <a:latin typeface="Trebuchet MS" panose="020B0603020202020204" pitchFamily="34" charset="0"/>
              </a:rPr>
              <a:t>import './styles.css';</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r>
              <a:rPr lang="en-US" dirty="0">
                <a:solidFill>
                  <a:schemeClr val="bg1">
                    <a:lumMod val="50000"/>
                  </a:schemeClr>
                </a:solidFill>
                <a:latin typeface="Trebuchet MS" panose="020B0603020202020204" pitchFamily="34" charset="0"/>
              </a:rPr>
              <a:t>interface </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 {</a:t>
            </a:r>
          </a:p>
          <a:p>
            <a:pPr algn="l">
              <a:lnSpc>
                <a:spcPct val="120000"/>
              </a:lnSpc>
            </a:pP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boolean</a:t>
            </a: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const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 </a:t>
            </a:r>
            <a:r>
              <a:rPr lang="en-US" dirty="0" err="1">
                <a:solidFill>
                  <a:schemeClr val="bg1">
                    <a:lumMod val="50000"/>
                  </a:schemeClr>
                </a:solidFill>
                <a:latin typeface="Trebuchet MS" panose="020B0603020202020204" pitchFamily="34" charset="0"/>
              </a:rPr>
              <a:t>React.FC</a:t>
            </a:r>
            <a:r>
              <a:rPr lang="en-US" dirty="0">
                <a:solidFill>
                  <a:schemeClr val="bg1">
                    <a:lumMod val="50000"/>
                  </a:schemeClr>
                </a:solidFill>
                <a:latin typeface="Trebuchet MS" panose="020B0603020202020204" pitchFamily="34" charset="0"/>
              </a:rPr>
              <a:t>&lt;</a:t>
            </a:r>
            <a:r>
              <a:rPr lang="en-US" dirty="0" err="1">
                <a:solidFill>
                  <a:schemeClr val="bg1">
                    <a:lumMod val="50000"/>
                  </a:schemeClr>
                </a:solidFill>
                <a:latin typeface="Trebuchet MS" panose="020B0603020202020204" pitchFamily="34" charset="0"/>
              </a:rPr>
              <a:t>MyComponentProps</a:t>
            </a:r>
            <a:r>
              <a:rPr lang="en-US" dirty="0">
                <a:solidFill>
                  <a:schemeClr val="bg1">
                    <a:lumMod val="50000"/>
                  </a:schemeClr>
                </a:solidFill>
                <a:latin typeface="Trebuchet MS" panose="020B0603020202020204" pitchFamily="34" charset="0"/>
              </a:rPr>
              <a:t>&gt; = ({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 =&gt; {</a:t>
            </a:r>
          </a:p>
          <a:p>
            <a:pPr algn="l">
              <a:lnSpc>
                <a:spcPct val="120000"/>
              </a:lnSpc>
            </a:pPr>
            <a:r>
              <a:rPr lang="en-US" dirty="0">
                <a:solidFill>
                  <a:schemeClr val="bg1">
                    <a:lumMod val="50000"/>
                  </a:schemeClr>
                </a:solidFill>
                <a:latin typeface="Trebuchet MS" panose="020B0603020202020204" pitchFamily="34" charset="0"/>
              </a:rPr>
              <a:t>  const </a:t>
            </a:r>
            <a:r>
              <a:rPr lang="en-US" dirty="0" err="1">
                <a:solidFill>
                  <a:schemeClr val="bg1">
                    <a:lumMod val="50000"/>
                  </a:schemeClr>
                </a:solidFill>
                <a:latin typeface="Trebuchet MS" panose="020B0603020202020204" pitchFamily="34" charset="0"/>
              </a:rPr>
              <a:t>cssClass</a:t>
            </a:r>
            <a:r>
              <a:rPr lang="en-US" dirty="0">
                <a:solidFill>
                  <a:schemeClr val="bg1">
                    <a:lumMod val="50000"/>
                  </a:schemeClr>
                </a:solidFill>
                <a:latin typeface="Trebuchet MS" panose="020B0603020202020204" pitchFamily="34" charset="0"/>
              </a:rPr>
              <a:t> = </a:t>
            </a:r>
            <a:r>
              <a:rPr lang="en-US" dirty="0" err="1">
                <a:solidFill>
                  <a:schemeClr val="bg1">
                    <a:lumMod val="50000"/>
                  </a:schemeClr>
                </a:solidFill>
                <a:latin typeface="Trebuchet MS" panose="020B0603020202020204" pitchFamily="34" charset="0"/>
              </a:rPr>
              <a:t>isHighlighted</a:t>
            </a:r>
            <a:r>
              <a:rPr lang="en-US" dirty="0">
                <a:solidFill>
                  <a:schemeClr val="bg1">
                    <a:lumMod val="50000"/>
                  </a:schemeClr>
                </a:solidFill>
                <a:latin typeface="Trebuchet MS" panose="020B0603020202020204" pitchFamily="34" charset="0"/>
              </a:rPr>
              <a:t> ? 'highlighted' : 'normal';</a:t>
            </a:r>
          </a:p>
          <a:p>
            <a:pPr algn="l">
              <a:lnSpc>
                <a:spcPct val="120000"/>
              </a:lnSpc>
            </a:pPr>
            <a:endParaRPr lang="en-US" dirty="0">
              <a:solidFill>
                <a:schemeClr val="bg1">
                  <a:lumMod val="50000"/>
                </a:schemeClr>
              </a:solidFill>
              <a:latin typeface="Trebuchet MS" panose="020B0603020202020204" pitchFamily="34" charset="0"/>
            </a:endParaRPr>
          </a:p>
          <a:p>
            <a:pPr algn="l">
              <a:lnSpc>
                <a:spcPct val="120000"/>
              </a:lnSpc>
            </a:pPr>
            <a:r>
              <a:rPr lang="en-US" dirty="0">
                <a:solidFill>
                  <a:schemeClr val="bg1">
                    <a:lumMod val="50000"/>
                  </a:schemeClr>
                </a:solidFill>
                <a:latin typeface="Trebuchet MS" panose="020B0603020202020204" pitchFamily="34" charset="0"/>
              </a:rPr>
              <a:t>  return &lt;div </a:t>
            </a:r>
            <a:r>
              <a:rPr lang="en-US" dirty="0" err="1">
                <a:solidFill>
                  <a:schemeClr val="bg1">
                    <a:lumMod val="50000"/>
                  </a:schemeClr>
                </a:solidFill>
                <a:latin typeface="Trebuchet MS" panose="020B0603020202020204" pitchFamily="34" charset="0"/>
              </a:rPr>
              <a:t>className</a:t>
            </a:r>
            <a:r>
              <a:rPr lang="en-US" dirty="0">
                <a:solidFill>
                  <a:schemeClr val="bg1">
                    <a:lumMod val="50000"/>
                  </a:schemeClr>
                </a:solidFill>
                <a:latin typeface="Trebuchet MS" panose="020B0603020202020204" pitchFamily="34" charset="0"/>
              </a:rPr>
              <a:t>={</a:t>
            </a:r>
            <a:r>
              <a:rPr lang="en-US" dirty="0" err="1">
                <a:solidFill>
                  <a:schemeClr val="bg1">
                    <a:lumMod val="50000"/>
                  </a:schemeClr>
                </a:solidFill>
                <a:latin typeface="Trebuchet MS" panose="020B0603020202020204" pitchFamily="34" charset="0"/>
              </a:rPr>
              <a:t>cssClass</a:t>
            </a:r>
            <a:r>
              <a:rPr lang="en-US" dirty="0">
                <a:solidFill>
                  <a:schemeClr val="bg1">
                    <a:lumMod val="50000"/>
                  </a:schemeClr>
                </a:solidFill>
                <a:latin typeface="Trebuchet MS" panose="020B0603020202020204" pitchFamily="34" charset="0"/>
              </a:rPr>
              <a:t>}&gt;Hello, I am a styled component.&lt;/div&gt;;</a:t>
            </a:r>
          </a:p>
          <a:p>
            <a:pPr algn="l">
              <a:lnSpc>
                <a:spcPct val="120000"/>
              </a:lnSpc>
            </a:pPr>
            <a:r>
              <a:rPr lang="en-US" dirty="0">
                <a:solidFill>
                  <a:schemeClr val="bg1">
                    <a:lumMod val="50000"/>
                  </a:schemeClr>
                </a:solidFill>
                <a:latin typeface="Trebuchet MS" panose="020B0603020202020204" pitchFamily="34" charset="0"/>
              </a:rPr>
              <a:t>};</a:t>
            </a:r>
          </a:p>
          <a:p>
            <a:pPr algn="l">
              <a:lnSpc>
                <a:spcPct val="120000"/>
              </a:lnSpc>
            </a:pPr>
            <a:r>
              <a:rPr lang="en-US" dirty="0">
                <a:solidFill>
                  <a:schemeClr val="bg1">
                    <a:lumMod val="50000"/>
                  </a:schemeClr>
                </a:solidFill>
                <a:latin typeface="Trebuchet MS" panose="020B0603020202020204" pitchFamily="34" charset="0"/>
              </a:rPr>
              <a:t>export default </a:t>
            </a:r>
            <a:r>
              <a:rPr lang="en-US" dirty="0" err="1">
                <a:solidFill>
                  <a:schemeClr val="bg1">
                    <a:lumMod val="50000"/>
                  </a:schemeClr>
                </a:solidFill>
                <a:latin typeface="Trebuchet MS" panose="020B0603020202020204" pitchFamily="34" charset="0"/>
              </a:rPr>
              <a:t>MyComponent</a:t>
            </a:r>
            <a:r>
              <a:rPr lang="en-US" dirty="0">
                <a:solidFill>
                  <a:schemeClr val="bg1">
                    <a:lumMod val="50000"/>
                  </a:schemeClr>
                </a:solidFill>
                <a:latin typeface="Trebuchet MS" panose="020B0603020202020204" pitchFamily="34" charset="0"/>
              </a:rPr>
              <a:t>;</a:t>
            </a:r>
          </a:p>
          <a:p>
            <a:pPr algn="l">
              <a:lnSpc>
                <a:spcPct val="120000"/>
              </a:lnSpc>
            </a:pPr>
            <a:endParaRPr lang="en-US" dirty="0">
              <a:solidFill>
                <a:schemeClr val="bg1">
                  <a:lumMod val="50000"/>
                </a:schemeClr>
              </a:solidFill>
              <a:latin typeface="Trebuchet MS" panose="020B0603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Component</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 Class:</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Component class is the base class for creating class components in React.</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When a component extends Component, it will re-render whenever the shouldComponentUpdate method returns true (the default behavior). This means that the component will re-render even if the props or state haven't changed.</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You have to manually implement the shouldComponentUpdate method to optimize rendering by preventing unnecessary updates.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Component</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Component Class:</a:t>
            </a:r>
          </a:p>
          <a:p>
            <a:pPr algn="l">
              <a:lnSpc>
                <a:spcPct val="120000"/>
              </a:lnSpc>
              <a:buFont typeface="Arial" panose="020B0604020202020204" pitchFamily="34" charset="0"/>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The shouldComponentUpdate method in a React class component is invoked before rendering when new props or state are being received. Its return value determines whether the component should re-render or not. By default, it returns true, which means the component will re-render every time shouldComponentUpdate is called.</a:t>
            </a:r>
          </a:p>
          <a:p>
            <a:pPr marL="342900" indent="-342900" algn="l">
              <a:lnSpc>
                <a:spcPct val="120000"/>
              </a:lnSpc>
              <a:buFont typeface="Arial" panose="020B0604020202020204" pitchFamily="34" charset="0"/>
              <a:buChar char="•"/>
            </a:pPr>
            <a:endParaRPr lang="en-US" dirty="0">
              <a:solidFill>
                <a:schemeClr val="bg1">
                  <a:lumMod val="50000"/>
                </a:schemeClr>
              </a:solidFill>
              <a:latin typeface="Trebuchet MS" panose="020B0603020202020204" pitchFamily="34" charset="0"/>
            </a:endParaRP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If you want to optimize performance by preventing unnecessary re-renders, you can implement your own shouldComponentUpdate logic.</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Pure Component</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a:solidFill>
                  <a:schemeClr val="bg1">
                    <a:lumMod val="50000"/>
                  </a:schemeClr>
                </a:solidFill>
                <a:latin typeface="Trebuchet MS" panose="020B0603020202020204" pitchFamily="34" charset="0"/>
              </a:rPr>
              <a:t>The PureComponent class is similar to Component but comes with a built-in shouldComponentUpdate method that performs a shallow comparison of props and state. If there are no changes, it prevents unnecessary re-renders.</a:t>
            </a:r>
          </a:p>
          <a:p>
            <a:pPr marL="342900" indent="-342900" algn="l">
              <a:lnSpc>
                <a:spcPct val="120000"/>
              </a:lnSpc>
              <a:buFont typeface="Arial" panose="020B0604020202020204" pitchFamily="34" charset="0"/>
              <a:buChar char="•"/>
            </a:pPr>
            <a:r>
              <a:rPr lang="en-US">
                <a:solidFill>
                  <a:schemeClr val="bg1">
                    <a:lumMod val="50000"/>
                  </a:schemeClr>
                </a:solidFill>
                <a:latin typeface="Trebuchet MS" panose="020B0603020202020204" pitchFamily="34" charset="0"/>
              </a:rPr>
              <a:t>This makes PureComponent suitable for situations where your component's render method is a pure function of its props and state, meaning that the output is determined solely by the input values.</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As of React 16.6 and later, you can also use the </a:t>
            </a:r>
            <a:r>
              <a:rPr lang="en-US" dirty="0" err="1">
                <a:solidFill>
                  <a:schemeClr val="bg1">
                    <a:lumMod val="50000"/>
                  </a:schemeClr>
                </a:solidFill>
                <a:latin typeface="Trebuchet MS" panose="020B0603020202020204" pitchFamily="34" charset="0"/>
              </a:rPr>
              <a:t>React.memo</a:t>
            </a:r>
            <a:r>
              <a:rPr lang="en-US" dirty="0">
                <a:solidFill>
                  <a:schemeClr val="bg1">
                    <a:lumMod val="50000"/>
                  </a:schemeClr>
                </a:solidFill>
                <a:latin typeface="Trebuchet MS" panose="020B0603020202020204" pitchFamily="34" charset="0"/>
              </a:rPr>
              <a:t> higher-order component or the </a:t>
            </a:r>
            <a:r>
              <a:rPr lang="en-US" dirty="0" err="1">
                <a:solidFill>
                  <a:schemeClr val="bg1">
                    <a:lumMod val="50000"/>
                  </a:schemeClr>
                </a:solidFill>
                <a:latin typeface="Trebuchet MS" panose="020B0603020202020204" pitchFamily="34" charset="0"/>
              </a:rPr>
              <a:t>useMemo</a:t>
            </a:r>
            <a:r>
              <a:rPr lang="en-US" dirty="0">
                <a:solidFill>
                  <a:schemeClr val="bg1">
                    <a:lumMod val="50000"/>
                  </a:schemeClr>
                </a:solidFill>
                <a:latin typeface="Trebuchet MS" panose="020B0603020202020204" pitchFamily="34" charset="0"/>
              </a:rPr>
              <a:t> hook for functional components to achieve a similar effect of optimizing performance by avoiding unnecessary re-renders.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Spread Syntax</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with TypeScript, the three dots (...) used with props are part of the JavaScript spread syntax. They allow you to spread the properties of an object or array into another object or array. In the context of React components, the spread syntax with props is commonly used to pass down multiple props to child components in a concise and readable way.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8781" y="384944"/>
            <a:ext cx="8180439" cy="647443"/>
          </a:xfrm>
        </p:spPr>
        <p:txBody>
          <a:bodyPr>
            <a:normAutofit/>
          </a:bodyPr>
          <a:lstStyle/>
          <a:p>
            <a:r>
              <a:rPr lang="en-US" sz="3600" dirty="0">
                <a:solidFill>
                  <a:prstClr val="white">
                    <a:lumMod val="50000"/>
                  </a:prstClr>
                </a:solidFill>
                <a:latin typeface="Trebuchet MS" panose="020B0603020202020204" pitchFamily="34" charset="0"/>
              </a:rPr>
              <a:t>Higher Order Component</a:t>
            </a:r>
            <a:endParaRPr lang="en-US" sz="3600" dirty="0"/>
          </a:p>
        </p:txBody>
      </p:sp>
      <p:sp>
        <p:nvSpPr>
          <p:cNvPr id="3" name="Subtitle 2"/>
          <p:cNvSpPr>
            <a:spLocks noGrp="1"/>
          </p:cNvSpPr>
          <p:nvPr>
            <p:ph type="subTitle" idx="1"/>
          </p:nvPr>
        </p:nvSpPr>
        <p:spPr>
          <a:xfrm>
            <a:off x="816087" y="1032387"/>
            <a:ext cx="11041626" cy="5663381"/>
          </a:xfrm>
        </p:spPr>
        <p:txBody>
          <a:bodyPr>
            <a:normAutofit/>
          </a:bodyPr>
          <a:lstStyle/>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Higher-order components (HOCs) in React are a powerful tool for code reuse between components.  </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React, a Higher-Order Component (HOC) is a pattern where a function takes a component and returns a new component with additional props or behavior. HOCs are used for code reuse, logic abstraction, and to extend the functionality of components without modifying their original source code.</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In TypeScript, you can create Higher-Order Components while ensuring type safety.</a:t>
            </a:r>
          </a:p>
          <a:p>
            <a:pPr marL="342900" indent="-342900" algn="l">
              <a:lnSpc>
                <a:spcPct val="120000"/>
              </a:lnSpc>
              <a:buFont typeface="Arial" panose="020B0604020202020204" pitchFamily="34" charset="0"/>
              <a:buChar char="•"/>
            </a:pPr>
            <a:r>
              <a:rPr lang="en-US" dirty="0">
                <a:solidFill>
                  <a:schemeClr val="bg1">
                    <a:lumMod val="50000"/>
                  </a:schemeClr>
                </a:solidFill>
                <a:latin typeface="Trebuchet MS" panose="020B0603020202020204" pitchFamily="34" charset="0"/>
              </a:rPr>
              <a:t>Whereas a component transforms props into UI, a higher-order component transforms a component into another component.</a:t>
            </a:r>
          </a:p>
        </p:txBody>
      </p:sp>
    </p:spTree>
  </p:cSld>
  <p:clrMapOvr>
    <a:masterClrMapping/>
  </p:clrMapOvr>
</p:sld>
</file>

<file path=ppt/theme/theme1.xml><?xml version="1.0" encoding="utf-8"?>
<a:theme xmlns:a="http://schemas.openxmlformats.org/drawingml/2006/main" name="Theme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Temeplate1</Template>
  <TotalTime>313</TotalTime>
  <Words>5862</Words>
  <Application>Microsoft Office PowerPoint</Application>
  <PresentationFormat>Widescreen</PresentationFormat>
  <Paragraphs>395</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Calibri Light</vt:lpstr>
      <vt:lpstr>Trebuchet MS</vt:lpstr>
      <vt:lpstr>Theme3</vt:lpstr>
      <vt:lpstr>PowerPoint Presentation</vt:lpstr>
      <vt:lpstr>What is React</vt:lpstr>
      <vt:lpstr>What is React</vt:lpstr>
      <vt:lpstr>What is React</vt:lpstr>
      <vt:lpstr>What is SPA</vt:lpstr>
      <vt:lpstr>Setup Environment</vt:lpstr>
      <vt:lpstr>Folder Structure</vt:lpstr>
      <vt:lpstr>What is Component</vt:lpstr>
      <vt:lpstr>What is Functional Component</vt:lpstr>
      <vt:lpstr>What is Functional Component</vt:lpstr>
      <vt:lpstr>What is Class Component</vt:lpstr>
      <vt:lpstr>What is Class Component</vt:lpstr>
      <vt:lpstr>Class Component Lifecycle </vt:lpstr>
      <vt:lpstr>Class Component Lifecycle </vt:lpstr>
      <vt:lpstr>Class Component Lifecycle </vt:lpstr>
      <vt:lpstr>Class Component Lifecycle </vt:lpstr>
      <vt:lpstr>Class Component Lifecycle </vt:lpstr>
      <vt:lpstr>Class Component Lifecycle </vt:lpstr>
      <vt:lpstr>Class Component Lifecycle </vt:lpstr>
      <vt:lpstr>State and Props</vt:lpstr>
      <vt:lpstr>State and Props</vt:lpstr>
      <vt:lpstr>State and Props</vt:lpstr>
      <vt:lpstr>setState</vt:lpstr>
      <vt:lpstr>setState</vt:lpstr>
      <vt:lpstr>Event Handling</vt:lpstr>
      <vt:lpstr>Binding Event Handlers in Class Components</vt:lpstr>
      <vt:lpstr>Method as Props</vt:lpstr>
      <vt:lpstr>Method as Props</vt:lpstr>
      <vt:lpstr>Method as Props</vt:lpstr>
      <vt:lpstr>What is Hooks</vt:lpstr>
      <vt:lpstr>What is Hooks</vt:lpstr>
      <vt:lpstr>What is Hooks</vt:lpstr>
      <vt:lpstr>What is Hooks</vt:lpstr>
      <vt:lpstr>useState</vt:lpstr>
      <vt:lpstr>useState</vt:lpstr>
      <vt:lpstr>useState</vt:lpstr>
      <vt:lpstr>useState</vt:lpstr>
      <vt:lpstr>useEffect</vt:lpstr>
      <vt:lpstr>useEffect</vt:lpstr>
      <vt:lpstr>useEffect</vt:lpstr>
      <vt:lpstr>useEffect</vt:lpstr>
      <vt:lpstr>useEffect</vt:lpstr>
      <vt:lpstr>useRef</vt:lpstr>
      <vt:lpstr>useRef</vt:lpstr>
      <vt:lpstr>useRef</vt:lpstr>
      <vt:lpstr>useRef</vt:lpstr>
      <vt:lpstr>useRef</vt:lpstr>
      <vt:lpstr>useRef</vt:lpstr>
      <vt:lpstr>useRef</vt:lpstr>
      <vt:lpstr>useRef</vt:lpstr>
      <vt:lpstr>Conditional Rendering</vt:lpstr>
      <vt:lpstr>Conditional Rendering</vt:lpstr>
      <vt:lpstr>Conditional Rendering</vt:lpstr>
      <vt:lpstr>Conditional Rendering</vt:lpstr>
      <vt:lpstr>Conditional Rendering</vt:lpstr>
      <vt:lpstr>Conditional Rendering</vt:lpstr>
      <vt:lpstr>Conditional Rendering</vt:lpstr>
      <vt:lpstr>List Rendering</vt:lpstr>
      <vt:lpstr>List Rendering</vt:lpstr>
      <vt:lpstr>Style and Css in react </vt:lpstr>
      <vt:lpstr>Style and CSS in react </vt:lpstr>
      <vt:lpstr>Conditional Rendering of Style and CSS</vt:lpstr>
      <vt:lpstr>Conditional Rendering of Style and CSS</vt:lpstr>
      <vt:lpstr>Conditional Rendering of Style and CSS</vt:lpstr>
      <vt:lpstr>Conditional Rendering of Style and CSS</vt:lpstr>
      <vt:lpstr>Component</vt:lpstr>
      <vt:lpstr>Component</vt:lpstr>
      <vt:lpstr>Pure Component</vt:lpstr>
      <vt:lpstr>Spread Syntax</vt:lpstr>
      <vt:lpstr>Higher Order Component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Sunita Jain</dc:creator>
  <cp:lastModifiedBy>Sunita Jain</cp:lastModifiedBy>
  <cp:revision>94</cp:revision>
  <dcterms:created xsi:type="dcterms:W3CDTF">2023-08-01T09:37:00Z</dcterms:created>
  <dcterms:modified xsi:type="dcterms:W3CDTF">2025-11-12T05:30:00Z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6E8C63DC21A44214BA832B7CDA693DEE_13</vt:lpwstr>
  </property>
  <property fmtid="{D5CDD505-2E9C-101B-9397-08002B2CF9AE}" pid="3" name="KSOProductBuildVer">
    <vt:lpwstr>1033-12.2.0.16909</vt:lpwstr>
  </property>
</Properties>
</file>